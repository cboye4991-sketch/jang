
<file path=[Content_Types].xml><?xml version="1.0" encoding="utf-8"?>
<Types xmlns="http://schemas.openxmlformats.org/package/2006/content-types">
  <Default ContentType="application/xml" Extension="xml"/>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3"/>
  </p:sldMasterIdLst>
  <p:notesMasterIdLst>
    <p:notesMasterId r:id="rId4"/>
  </p:notesMasterIdLst>
  <p:sldIdLst>
    <p:sldId id="256" r:id="rId5"/>
    <p:sldId id="257" r:id="rId6"/>
    <p:sldId id="258" r:id="rId7"/>
  </p:sldIdLst>
  <p:sldSz cy="5143500" cx="9144000"/>
  <p:notesSz cx="51435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8" roundtripDataSignature="AMtx7miFL62glKM7CScPpjaf9bqAuWdPi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customschemas.google.com/relationships/presentationmetadata" Target="meta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 name="Shape 11"/>
        <p:cNvGrpSpPr/>
        <p:nvPr/>
      </p:nvGrpSpPr>
      <p:grpSpPr>
        <a:xfrm>
          <a:off x="0" y="0"/>
          <a:ext cx="0" cy="0"/>
          <a:chOff x="0" y="0"/>
          <a:chExt cx="0" cy="0"/>
        </a:xfrm>
      </p:grpSpPr>
      <p:sp>
        <p:nvSpPr>
          <p:cNvPr id="12" name="Google Shape;12;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 name="Google Shape;13;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 name="Google Shape;14;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 name="Shape 30"/>
        <p:cNvGrpSpPr/>
        <p:nvPr/>
      </p:nvGrpSpPr>
      <p:grpSpPr>
        <a:xfrm>
          <a:off x="0" y="0"/>
          <a:ext cx="0" cy="0"/>
          <a:chOff x="0" y="0"/>
          <a:chExt cx="0" cy="0"/>
        </a:xfrm>
      </p:grpSpPr>
      <p:sp>
        <p:nvSpPr>
          <p:cNvPr id="31" name="Google Shape;31;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2" name="Google Shape;32;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3" name="Google Shape;33;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 name="Shape 98"/>
        <p:cNvGrpSpPr/>
        <p:nvPr/>
      </p:nvGrpSpPr>
      <p:grpSpPr>
        <a:xfrm>
          <a:off x="0" y="0"/>
          <a:ext cx="0" cy="0"/>
          <a:chOff x="0" y="0"/>
          <a:chExt cx="0" cy="0"/>
        </a:xfrm>
      </p:grpSpPr>
      <p:sp>
        <p:nvSpPr>
          <p:cNvPr id="99" name="Google Shape;99;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0" name="Google Shape;100;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1" name="Google Shape;101;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10" name="Shape 10"/>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 name="Shape 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9"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2F23"/>
        </a:solidFill>
      </p:bgPr>
    </p:bg>
    <p:spTree>
      <p:nvGrpSpPr>
        <p:cNvPr id="15" name="Shape 15"/>
        <p:cNvGrpSpPr/>
        <p:nvPr/>
      </p:nvGrpSpPr>
      <p:grpSpPr>
        <a:xfrm>
          <a:off x="0" y="0"/>
          <a:ext cx="0" cy="0"/>
          <a:chOff x="0" y="0"/>
          <a:chExt cx="0" cy="0"/>
        </a:xfrm>
      </p:grpSpPr>
      <p:sp>
        <p:nvSpPr>
          <p:cNvPr id="16" name="Google Shape;16;p1"/>
          <p:cNvSpPr/>
          <p:nvPr/>
        </p:nvSpPr>
        <p:spPr>
          <a:xfrm>
            <a:off x="0" y="0"/>
            <a:ext cx="73152" cy="5143500"/>
          </a:xfrm>
          <a:prstGeom prst="rect">
            <a:avLst/>
          </a:prstGeom>
          <a:solidFill>
            <a:srgbClr val="4CAF7D"/>
          </a:solidFill>
          <a:ln cap="flat" cmpd="sng" w="12700">
            <a:solidFill>
              <a:srgbClr val="4CAF7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 name="Google Shape;17;p1"/>
          <p:cNvSpPr/>
          <p:nvPr/>
        </p:nvSpPr>
        <p:spPr>
          <a:xfrm>
            <a:off x="7132320" y="-548640"/>
            <a:ext cx="2926080" cy="2926080"/>
          </a:xfrm>
          <a:prstGeom prst="ellipse">
            <a:avLst/>
          </a:prstGeom>
          <a:solidFill>
            <a:srgbClr val="1F5C2E">
              <a:alpha val="40000"/>
            </a:srgbClr>
          </a:solidFill>
          <a:ln cap="flat" cmpd="sng" w="12700">
            <a:solidFill>
              <a:srgbClr val="1F5C2E">
                <a:alpha val="4000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 name="Google Shape;18;p1"/>
          <p:cNvSpPr/>
          <p:nvPr/>
        </p:nvSpPr>
        <p:spPr>
          <a:xfrm>
            <a:off x="457200" y="457200"/>
            <a:ext cx="822960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4CAF7D"/>
              </a:buClr>
              <a:buSzPts val="1200"/>
              <a:buFont typeface="Calibri"/>
              <a:buNone/>
            </a:pPr>
            <a:r>
              <a:rPr b="1" i="0" lang="en-US" sz="1200" u="none" cap="none" strike="noStrike">
                <a:solidFill>
                  <a:srgbClr val="4CAF7D"/>
                </a:solidFill>
                <a:latin typeface="Calibri"/>
                <a:ea typeface="Calibri"/>
                <a:cs typeface="Calibri"/>
                <a:sym typeface="Calibri"/>
              </a:rPr>
              <a:t>GET 409 — Séance 7  |  Template Étudiant</a:t>
            </a:r>
            <a:endParaRPr b="0" i="0" sz="1200" u="none" cap="none" strike="noStrike">
              <a:solidFill>
                <a:schemeClr val="dk1"/>
              </a:solidFill>
              <a:latin typeface="Calibri"/>
              <a:ea typeface="Calibri"/>
              <a:cs typeface="Calibri"/>
              <a:sym typeface="Calibri"/>
            </a:endParaRPr>
          </a:p>
        </p:txBody>
      </p:sp>
      <p:sp>
        <p:nvSpPr>
          <p:cNvPr id="19" name="Google Shape;19;p1"/>
          <p:cNvSpPr/>
          <p:nvPr/>
        </p:nvSpPr>
        <p:spPr>
          <a:xfrm>
            <a:off x="457200" y="960120"/>
            <a:ext cx="7315200" cy="17373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4600"/>
              <a:buFont typeface="Cambria"/>
              <a:buNone/>
            </a:pPr>
            <a:r>
              <a:rPr b="1" i="0" lang="en-US" sz="4600" u="none" cap="none" strike="noStrike">
                <a:solidFill>
                  <a:srgbClr val="FFFFFF"/>
                </a:solidFill>
                <a:latin typeface="Cambria"/>
                <a:ea typeface="Cambria"/>
                <a:cs typeface="Cambria"/>
                <a:sym typeface="Cambria"/>
              </a:rPr>
              <a:t>Mon Script</a:t>
            </a:r>
            <a:endParaRPr b="0" i="0" sz="46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FFFFFF"/>
              </a:buClr>
              <a:buSzPts val="4600"/>
              <a:buFont typeface="Cambria"/>
              <a:buNone/>
            </a:pPr>
            <a:r>
              <a:rPr b="1" i="0" lang="en-US" sz="4600" u="none" cap="none" strike="noStrike">
                <a:solidFill>
                  <a:srgbClr val="FFFFFF"/>
                </a:solidFill>
                <a:latin typeface="Cambria"/>
                <a:ea typeface="Cambria"/>
                <a:cs typeface="Cambria"/>
                <a:sym typeface="Cambria"/>
              </a:rPr>
              <a:t>Vidéo Teaser</a:t>
            </a:r>
            <a:endParaRPr b="0" i="0" sz="4600" u="none" cap="none" strike="noStrike">
              <a:solidFill>
                <a:schemeClr val="dk1"/>
              </a:solidFill>
              <a:latin typeface="Calibri"/>
              <a:ea typeface="Calibri"/>
              <a:cs typeface="Calibri"/>
              <a:sym typeface="Calibri"/>
            </a:endParaRPr>
          </a:p>
        </p:txBody>
      </p:sp>
      <p:sp>
        <p:nvSpPr>
          <p:cNvPr id="20" name="Google Shape;20;p1"/>
          <p:cNvSpPr/>
          <p:nvPr/>
        </p:nvSpPr>
        <p:spPr>
          <a:xfrm>
            <a:off x="457200" y="2788920"/>
            <a:ext cx="7772400" cy="4114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A8D5B5"/>
              </a:buClr>
              <a:buSzPts val="1400"/>
              <a:buFont typeface="Calibri"/>
              <a:buNone/>
            </a:pPr>
            <a:r>
              <a:rPr b="0" i="1" lang="en-US" sz="1400" u="none" cap="none" strike="noStrike">
                <a:solidFill>
                  <a:srgbClr val="A8D5B5"/>
                </a:solidFill>
                <a:latin typeface="Calibri"/>
                <a:ea typeface="Calibri"/>
                <a:cs typeface="Calibri"/>
                <a:sym typeface="Calibri"/>
              </a:rPr>
              <a:t>Complète ce template étape par étape avant de lancer Kling AI</a:t>
            </a:r>
            <a:endParaRPr b="0" i="0" sz="1400" u="none" cap="none" strike="noStrike">
              <a:solidFill>
                <a:schemeClr val="dk1"/>
              </a:solidFill>
              <a:latin typeface="Calibri"/>
              <a:ea typeface="Calibri"/>
              <a:cs typeface="Calibri"/>
              <a:sym typeface="Calibri"/>
            </a:endParaRPr>
          </a:p>
        </p:txBody>
      </p:sp>
      <p:sp>
        <p:nvSpPr>
          <p:cNvPr id="21" name="Google Shape;21;p1"/>
          <p:cNvSpPr/>
          <p:nvPr/>
        </p:nvSpPr>
        <p:spPr>
          <a:xfrm>
            <a:off x="457200" y="3337560"/>
            <a:ext cx="2606040" cy="475488"/>
          </a:xfrm>
          <a:prstGeom prst="roundRect">
            <a:avLst>
              <a:gd fmla="val 13462" name="adj"/>
            </a:avLst>
          </a:prstGeom>
          <a:solidFill>
            <a:srgbClr val="FFF8E1"/>
          </a:solidFill>
          <a:ln cap="flat" cmpd="sng" w="19050">
            <a:solidFill>
              <a:srgbClr val="F0A5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 name="Google Shape;22;p1"/>
          <p:cNvSpPr/>
          <p:nvPr/>
        </p:nvSpPr>
        <p:spPr>
          <a:xfrm>
            <a:off x="530352" y="3337560"/>
            <a:ext cx="2459736" cy="47548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A07800"/>
              </a:buClr>
              <a:buSzPts val="1000"/>
              <a:buFont typeface="Calibri"/>
              <a:buNone/>
            </a:pPr>
            <a:r>
              <a:rPr b="0" i="1" lang="en-US" sz="1000" u="none" cap="none" strike="noStrike">
                <a:solidFill>
                  <a:srgbClr val="A07800"/>
                </a:solidFill>
                <a:latin typeface="Calibri"/>
                <a:ea typeface="Calibri"/>
                <a:cs typeface="Calibri"/>
                <a:sym typeface="Calibri"/>
              </a:rPr>
              <a:t>✏️  Nom de l'équipe : Cheikh BOYE &amp; Adama DIOP</a:t>
            </a:r>
            <a:endParaRPr b="0" i="0" sz="1000" u="none" cap="none" strike="noStrike">
              <a:solidFill>
                <a:schemeClr val="dk1"/>
              </a:solidFill>
              <a:latin typeface="Calibri"/>
              <a:ea typeface="Calibri"/>
              <a:cs typeface="Calibri"/>
              <a:sym typeface="Calibri"/>
            </a:endParaRPr>
          </a:p>
        </p:txBody>
      </p:sp>
      <p:sp>
        <p:nvSpPr>
          <p:cNvPr id="23" name="Google Shape;23;p1"/>
          <p:cNvSpPr/>
          <p:nvPr/>
        </p:nvSpPr>
        <p:spPr>
          <a:xfrm>
            <a:off x="3291840" y="3337560"/>
            <a:ext cx="2606040" cy="475488"/>
          </a:xfrm>
          <a:prstGeom prst="roundRect">
            <a:avLst>
              <a:gd fmla="val 13462" name="adj"/>
            </a:avLst>
          </a:prstGeom>
          <a:solidFill>
            <a:srgbClr val="FFF8E1"/>
          </a:solidFill>
          <a:ln cap="flat" cmpd="sng" w="19050">
            <a:solidFill>
              <a:srgbClr val="F0A5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 name="Google Shape;24;p1"/>
          <p:cNvSpPr/>
          <p:nvPr/>
        </p:nvSpPr>
        <p:spPr>
          <a:xfrm>
            <a:off x="3364992" y="3337560"/>
            <a:ext cx="2459736" cy="47548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A07800"/>
              </a:buClr>
              <a:buSzPts val="1000"/>
              <a:buFont typeface="Calibri"/>
              <a:buNone/>
            </a:pPr>
            <a:r>
              <a:rPr b="0" i="1" lang="en-US" sz="1000" u="none" cap="none" strike="noStrike">
                <a:solidFill>
                  <a:srgbClr val="A07800"/>
                </a:solidFill>
                <a:latin typeface="Calibri"/>
                <a:ea typeface="Calibri"/>
                <a:cs typeface="Calibri"/>
                <a:sym typeface="Calibri"/>
              </a:rPr>
              <a:t>✏️  Projet : Jàng — correcteur d'exercices du Bac</a:t>
            </a:r>
            <a:endParaRPr b="0" i="0" sz="1000" u="none" cap="none" strike="noStrike">
              <a:solidFill>
                <a:schemeClr val="dk1"/>
              </a:solidFill>
              <a:latin typeface="Calibri"/>
              <a:ea typeface="Calibri"/>
              <a:cs typeface="Calibri"/>
              <a:sym typeface="Calibri"/>
            </a:endParaRPr>
          </a:p>
        </p:txBody>
      </p:sp>
      <p:sp>
        <p:nvSpPr>
          <p:cNvPr id="25" name="Google Shape;25;p1"/>
          <p:cNvSpPr/>
          <p:nvPr/>
        </p:nvSpPr>
        <p:spPr>
          <a:xfrm>
            <a:off x="6126480" y="3337560"/>
            <a:ext cx="2606040" cy="475488"/>
          </a:xfrm>
          <a:prstGeom prst="roundRect">
            <a:avLst>
              <a:gd fmla="val 13462" name="adj"/>
            </a:avLst>
          </a:prstGeom>
          <a:solidFill>
            <a:srgbClr val="FFF8E1"/>
          </a:solidFill>
          <a:ln cap="flat" cmpd="sng" w="19050">
            <a:solidFill>
              <a:srgbClr val="F0A5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 name="Google Shape;26;p1"/>
          <p:cNvSpPr/>
          <p:nvPr/>
        </p:nvSpPr>
        <p:spPr>
          <a:xfrm>
            <a:off x="6199632" y="3337560"/>
            <a:ext cx="2459736" cy="47548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A07800"/>
              </a:buClr>
              <a:buSzPts val="1000"/>
              <a:buFont typeface="Calibri"/>
              <a:buNone/>
            </a:pPr>
            <a:r>
              <a:rPr b="0" i="1" lang="en-US" sz="1000" u="none" cap="none" strike="noStrike">
                <a:solidFill>
                  <a:srgbClr val="A07800"/>
                </a:solidFill>
                <a:latin typeface="Calibri"/>
                <a:ea typeface="Calibri"/>
                <a:cs typeface="Calibri"/>
                <a:sym typeface="Calibri"/>
              </a:rPr>
              <a:t>✏️  Groupe : ___</a:t>
            </a:r>
            <a:endParaRPr b="0" i="0" sz="1000" u="none" cap="none" strike="noStrike">
              <a:solidFill>
                <a:schemeClr val="dk1"/>
              </a:solidFill>
              <a:latin typeface="Calibri"/>
              <a:ea typeface="Calibri"/>
              <a:cs typeface="Calibri"/>
              <a:sym typeface="Calibri"/>
            </a:endParaRPr>
          </a:p>
        </p:txBody>
      </p:sp>
      <p:sp>
        <p:nvSpPr>
          <p:cNvPr id="27" name="Google Shape;27;p1"/>
          <p:cNvSpPr/>
          <p:nvPr/>
        </p:nvSpPr>
        <p:spPr>
          <a:xfrm>
            <a:off x="457200" y="3977640"/>
            <a:ext cx="8229600" cy="502920"/>
          </a:xfrm>
          <a:prstGeom prst="roundRect">
            <a:avLst>
              <a:gd fmla="val 10909" name="adj"/>
            </a:avLst>
          </a:prstGeom>
          <a:solidFill>
            <a:srgbClr val="FFF8E1"/>
          </a:solidFill>
          <a:ln cap="flat" cmpd="sng" w="12700">
            <a:solidFill>
              <a:srgbClr val="F0A5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 name="Google Shape;28;p1"/>
          <p:cNvSpPr/>
          <p:nvPr/>
        </p:nvSpPr>
        <p:spPr>
          <a:xfrm>
            <a:off x="548640" y="3977640"/>
            <a:ext cx="8046720" cy="5029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A07800"/>
              </a:buClr>
              <a:buSzPts val="1000"/>
              <a:buFont typeface="Calibri"/>
              <a:buNone/>
            </a:pPr>
            <a:r>
              <a:rPr b="1" i="0" lang="en-US" sz="1000" u="none" cap="none" strike="noStrike">
                <a:solidFill>
                  <a:srgbClr val="A07800"/>
                </a:solidFill>
                <a:latin typeface="Calibri"/>
                <a:ea typeface="Calibri"/>
                <a:cs typeface="Calibri"/>
                <a:sym typeface="Calibri"/>
              </a:rPr>
              <a:t>📌 Mode d'emploi : </a:t>
            </a:r>
            <a:r>
              <a:rPr b="0" i="0" lang="en-US" sz="1000" u="none" cap="none" strike="noStrike">
                <a:solidFill>
                  <a:srgbClr val="A07800"/>
                </a:solidFill>
                <a:latin typeface="Calibri"/>
                <a:ea typeface="Calibri"/>
                <a:cs typeface="Calibri"/>
                <a:sym typeface="Calibri"/>
              </a:rPr>
              <a:t>Les zones </a:t>
            </a:r>
            <a:r>
              <a:rPr b="1" i="0" lang="en-US" sz="1000" u="none" cap="none" strike="noStrike">
                <a:solidFill>
                  <a:srgbClr val="E8A020"/>
                </a:solidFill>
                <a:latin typeface="Calibri"/>
                <a:ea typeface="Calibri"/>
                <a:cs typeface="Calibri"/>
                <a:sym typeface="Calibri"/>
              </a:rPr>
              <a:t>jaunes </a:t>
            </a:r>
            <a:r>
              <a:rPr b="0" i="0" lang="en-US" sz="1000" u="none" cap="none" strike="noStrike">
                <a:solidFill>
                  <a:srgbClr val="A07800"/>
                </a:solidFill>
                <a:latin typeface="Calibri"/>
                <a:ea typeface="Calibri"/>
                <a:cs typeface="Calibri"/>
                <a:sym typeface="Calibri"/>
              </a:rPr>
              <a:t>sont à compléter. Remplace chaque texte guide par ton contenu réel. Supprime les instructions en italique avant de rendre.</a:t>
            </a:r>
            <a:endParaRPr b="0" i="0" sz="1000" u="none" cap="none" strike="noStrike">
              <a:solidFill>
                <a:schemeClr val="dk1"/>
              </a:solidFill>
              <a:latin typeface="Calibri"/>
              <a:ea typeface="Calibri"/>
              <a:cs typeface="Calibri"/>
              <a:sym typeface="Calibri"/>
            </a:endParaRPr>
          </a:p>
        </p:txBody>
      </p:sp>
      <p:sp>
        <p:nvSpPr>
          <p:cNvPr id="29" name="Google Shape;29;p1"/>
          <p:cNvSpPr/>
          <p:nvPr/>
        </p:nvSpPr>
        <p:spPr>
          <a:xfrm>
            <a:off x="0" y="4846320"/>
            <a:ext cx="9144000" cy="18288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6B7F72"/>
              </a:buClr>
              <a:buSzPts val="700"/>
              <a:buFont typeface="Calibri"/>
              <a:buNone/>
            </a:pPr>
            <a:r>
              <a:rPr b="0" i="0" lang="en-US" sz="700" u="none" cap="none" strike="noStrike">
                <a:solidFill>
                  <a:srgbClr val="6B7F72"/>
                </a:solidFill>
                <a:latin typeface="Calibri"/>
                <a:ea typeface="Calibri"/>
                <a:cs typeface="Calibri"/>
                <a:sym typeface="Calibri"/>
              </a:rPr>
              <a:t>Swiss UMEF University — Campus de Dakar  |  GET 409 S7</a:t>
            </a:r>
            <a:endParaRPr b="0" i="0" sz="700" u="none" cap="none" strike="noStrike">
              <a:solidFill>
                <a:schemeClr val="dk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4" name="Shape 34"/>
        <p:cNvGrpSpPr/>
        <p:nvPr/>
      </p:nvGrpSpPr>
      <p:grpSpPr>
        <a:xfrm>
          <a:off x="0" y="0"/>
          <a:ext cx="0" cy="0"/>
          <a:chOff x="0" y="0"/>
          <a:chExt cx="0" cy="0"/>
        </a:xfrm>
      </p:grpSpPr>
      <p:sp>
        <p:nvSpPr>
          <p:cNvPr id="35" name="Google Shape;35;p2"/>
          <p:cNvSpPr/>
          <p:nvPr/>
        </p:nvSpPr>
        <p:spPr>
          <a:xfrm>
            <a:off x="0" y="0"/>
            <a:ext cx="9144000" cy="822960"/>
          </a:xfrm>
          <a:prstGeom prst="rect">
            <a:avLst/>
          </a:prstGeom>
          <a:solidFill>
            <a:srgbClr val="1F5C2E"/>
          </a:solidFill>
          <a:ln cap="flat" cmpd="sng" w="12700">
            <a:solidFill>
              <a:srgbClr val="1F5C2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 name="Google Shape;36;p2"/>
          <p:cNvSpPr/>
          <p:nvPr/>
        </p:nvSpPr>
        <p:spPr>
          <a:xfrm>
            <a:off x="365760" y="0"/>
            <a:ext cx="6583680" cy="8229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2000"/>
              <a:buFont typeface="Cambria"/>
              <a:buNone/>
            </a:pPr>
            <a:r>
              <a:rPr b="1" i="0" lang="en-US" sz="2000" u="none" cap="none" strike="noStrike">
                <a:solidFill>
                  <a:srgbClr val="FFFFFF"/>
                </a:solidFill>
                <a:latin typeface="Cambria"/>
                <a:ea typeface="Cambria"/>
                <a:cs typeface="Cambria"/>
                <a:sym typeface="Cambria"/>
              </a:rPr>
              <a:t>ÉTAPE 1 / 5  —  Mon Script Vidéo  |  4 Actes × 15 sec</a:t>
            </a:r>
            <a:endParaRPr b="0" i="0" sz="2000" u="none" cap="none" strike="noStrike">
              <a:solidFill>
                <a:schemeClr val="dk1"/>
              </a:solidFill>
              <a:latin typeface="Calibri"/>
              <a:ea typeface="Calibri"/>
              <a:cs typeface="Calibri"/>
              <a:sym typeface="Calibri"/>
            </a:endParaRPr>
          </a:p>
        </p:txBody>
      </p:sp>
      <p:sp>
        <p:nvSpPr>
          <p:cNvPr id="37" name="Google Shape;37;p2"/>
          <p:cNvSpPr/>
          <p:nvPr/>
        </p:nvSpPr>
        <p:spPr>
          <a:xfrm>
            <a:off x="6995160" y="91440"/>
            <a:ext cx="1920240" cy="594360"/>
          </a:xfrm>
          <a:prstGeom prst="roundRect">
            <a:avLst>
              <a:gd fmla="val 9231" name="adj"/>
            </a:avLst>
          </a:prstGeom>
          <a:solidFill>
            <a:srgbClr val="4CAF7D"/>
          </a:solidFill>
          <a:ln cap="flat" cmpd="sng" w="12700">
            <a:solidFill>
              <a:srgbClr val="4CAF7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 name="Google Shape;38;p2"/>
          <p:cNvSpPr/>
          <p:nvPr/>
        </p:nvSpPr>
        <p:spPr>
          <a:xfrm>
            <a:off x="6995160" y="91440"/>
            <a:ext cx="1920240" cy="5943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000"/>
              <a:buFont typeface="Calibri"/>
              <a:buNone/>
            </a:pPr>
            <a:r>
              <a:rPr b="1" i="0" lang="en-US" sz="1000" u="none" cap="none" strike="noStrike">
                <a:solidFill>
                  <a:srgbClr val="FFFFFF"/>
                </a:solidFill>
                <a:latin typeface="Calibri"/>
                <a:ea typeface="Calibri"/>
                <a:cs typeface="Calibri"/>
                <a:sym typeface="Calibri"/>
              </a:rPr>
              <a:t>Claude / ChatGPT</a:t>
            </a:r>
            <a:endParaRPr b="0" i="0" sz="1000" u="none" cap="none" strike="noStrike">
              <a:solidFill>
                <a:schemeClr val="dk1"/>
              </a:solidFill>
              <a:latin typeface="Calibri"/>
              <a:ea typeface="Calibri"/>
              <a:cs typeface="Calibri"/>
              <a:sym typeface="Calibri"/>
            </a:endParaRPr>
          </a:p>
        </p:txBody>
      </p:sp>
      <p:sp>
        <p:nvSpPr>
          <p:cNvPr id="39" name="Google Shape;39;p2"/>
          <p:cNvSpPr/>
          <p:nvPr/>
        </p:nvSpPr>
        <p:spPr>
          <a:xfrm>
            <a:off x="128016" y="914400"/>
            <a:ext cx="2084832" cy="3977640"/>
          </a:xfrm>
          <a:prstGeom prst="roundRect">
            <a:avLst>
              <a:gd fmla="val 4386" name="adj"/>
            </a:avLst>
          </a:prstGeom>
          <a:solidFill>
            <a:srgbClr val="FFFFFF"/>
          </a:solidFill>
          <a:ln cap="flat" cmpd="sng" w="19050">
            <a:solidFill>
              <a:srgbClr val="F0A500"/>
            </a:solidFill>
            <a:prstDash val="solid"/>
            <a:round/>
            <a:headEnd len="sm" w="sm" type="none"/>
            <a:tailEnd len="sm" w="sm" type="none"/>
          </a:ln>
          <a:effectLst>
            <a:outerShdw blurRad="63500" rotWithShape="0" algn="bl" dir="2700000" dist="254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 name="Google Shape;40;p2"/>
          <p:cNvSpPr/>
          <p:nvPr/>
        </p:nvSpPr>
        <p:spPr>
          <a:xfrm>
            <a:off x="128016" y="914400"/>
            <a:ext cx="2084832" cy="658368"/>
          </a:xfrm>
          <a:prstGeom prst="roundRect">
            <a:avLst>
              <a:gd fmla="val 13889" name="adj"/>
            </a:avLst>
          </a:prstGeom>
          <a:solidFill>
            <a:srgbClr val="1F5C2E"/>
          </a:solidFill>
          <a:ln cap="flat" cmpd="sng" w="12700">
            <a:solidFill>
              <a:srgbClr val="1F5C2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 name="Google Shape;41;p2"/>
          <p:cNvSpPr/>
          <p:nvPr/>
        </p:nvSpPr>
        <p:spPr>
          <a:xfrm>
            <a:off x="128016" y="1298448"/>
            <a:ext cx="2084832" cy="274320"/>
          </a:xfrm>
          <a:prstGeom prst="rect">
            <a:avLst/>
          </a:prstGeom>
          <a:solidFill>
            <a:srgbClr val="1F5C2E"/>
          </a:solidFill>
          <a:ln cap="flat" cmpd="sng" w="12700">
            <a:solidFill>
              <a:srgbClr val="1F5C2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 name="Google Shape;42;p2"/>
          <p:cNvSpPr/>
          <p:nvPr/>
        </p:nvSpPr>
        <p:spPr>
          <a:xfrm>
            <a:off x="201168" y="950976"/>
            <a:ext cx="1938528" cy="27432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900"/>
              <a:buFont typeface="Calibri"/>
              <a:buNone/>
            </a:pPr>
            <a:r>
              <a:rPr b="1" i="0" lang="en-US" sz="900" u="none" cap="none" strike="noStrike">
                <a:solidFill>
                  <a:srgbClr val="FFFFFF"/>
                </a:solidFill>
                <a:latin typeface="Calibri"/>
                <a:ea typeface="Calibri"/>
                <a:cs typeface="Calibri"/>
                <a:sym typeface="Calibri"/>
              </a:rPr>
              <a:t>ACTE 1  ·  0–15 sec</a:t>
            </a:r>
            <a:endParaRPr b="0" i="0" sz="900" u="none" cap="none" strike="noStrike">
              <a:solidFill>
                <a:schemeClr val="dk1"/>
              </a:solidFill>
              <a:latin typeface="Calibri"/>
              <a:ea typeface="Calibri"/>
              <a:cs typeface="Calibri"/>
              <a:sym typeface="Calibri"/>
            </a:endParaRPr>
          </a:p>
        </p:txBody>
      </p:sp>
      <p:sp>
        <p:nvSpPr>
          <p:cNvPr id="43" name="Google Shape;43;p2"/>
          <p:cNvSpPr/>
          <p:nvPr/>
        </p:nvSpPr>
        <p:spPr>
          <a:xfrm>
            <a:off x="201168" y="1225296"/>
            <a:ext cx="1938528" cy="310896"/>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300"/>
              <a:buFont typeface="Cambria"/>
              <a:buNone/>
            </a:pPr>
            <a:r>
              <a:rPr b="1" i="0" lang="en-US" sz="1300" u="none" cap="none" strike="noStrike">
                <a:solidFill>
                  <a:srgbClr val="FFFFFF"/>
                </a:solidFill>
                <a:latin typeface="Cambria"/>
                <a:ea typeface="Cambria"/>
                <a:cs typeface="Cambria"/>
                <a:sym typeface="Cambria"/>
              </a:rPr>
              <a:t>Le Problème</a:t>
            </a:r>
            <a:endParaRPr b="0" i="0" sz="1300" u="none" cap="none" strike="noStrike">
              <a:solidFill>
                <a:schemeClr val="dk1"/>
              </a:solidFill>
              <a:latin typeface="Calibri"/>
              <a:ea typeface="Calibri"/>
              <a:cs typeface="Calibri"/>
              <a:sym typeface="Calibri"/>
            </a:endParaRPr>
          </a:p>
        </p:txBody>
      </p:sp>
      <p:sp>
        <p:nvSpPr>
          <p:cNvPr id="44" name="Google Shape;44;p2"/>
          <p:cNvSpPr/>
          <p:nvPr/>
        </p:nvSpPr>
        <p:spPr>
          <a:xfrm>
            <a:off x="219456" y="1664208"/>
            <a:ext cx="1901952" cy="237744"/>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F5C2E"/>
              </a:buClr>
              <a:buSzPts val="950"/>
              <a:buFont typeface="Calibri"/>
              <a:buNone/>
            </a:pPr>
            <a:r>
              <a:rPr b="1" i="0" lang="en-US" sz="950" u="none" cap="none" strike="noStrike">
                <a:solidFill>
                  <a:srgbClr val="1F5C2E"/>
                </a:solidFill>
                <a:latin typeface="Calibri"/>
                <a:ea typeface="Calibri"/>
                <a:cs typeface="Calibri"/>
                <a:sym typeface="Calibri"/>
              </a:rPr>
              <a:t>Choc visuel :</a:t>
            </a:r>
            <a:endParaRPr b="0" i="0" sz="950" u="none" cap="none" strike="noStrike">
              <a:solidFill>
                <a:schemeClr val="dk1"/>
              </a:solidFill>
              <a:latin typeface="Calibri"/>
              <a:ea typeface="Calibri"/>
              <a:cs typeface="Calibri"/>
              <a:sym typeface="Calibri"/>
            </a:endParaRPr>
          </a:p>
        </p:txBody>
      </p:sp>
      <p:sp>
        <p:nvSpPr>
          <p:cNvPr id="45" name="Google Shape;45;p2"/>
          <p:cNvSpPr/>
          <p:nvPr/>
        </p:nvSpPr>
        <p:spPr>
          <a:xfrm>
            <a:off x="219456" y="1911096"/>
            <a:ext cx="1901952" cy="713232"/>
          </a:xfrm>
          <a:prstGeom prst="roundRect">
            <a:avLst>
              <a:gd fmla="val 6410" name="adj"/>
            </a:avLst>
          </a:prstGeom>
          <a:solidFill>
            <a:srgbClr val="FFF8E1"/>
          </a:solidFill>
          <a:ln cap="flat" cmpd="sng" w="12700">
            <a:solidFill>
              <a:srgbClr val="F0A5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 name="Google Shape;46;p2"/>
          <p:cNvSpPr/>
          <p:nvPr/>
        </p:nvSpPr>
        <p:spPr>
          <a:xfrm>
            <a:off x="256032" y="1938528"/>
            <a:ext cx="1828800" cy="658368"/>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A07800"/>
              </a:buClr>
              <a:buSzPts val="850"/>
              <a:buFont typeface="Calibri"/>
              <a:buNone/>
            </a:pPr>
            <a:r>
              <a:rPr b="0" lang="en-US" sz="850" u="none" cap="none" strike="noStrike">
                <a:solidFill>
                  <a:srgbClr val="A07800"/>
                </a:solidFill>
                <a:latin typeface="Calibri"/>
                <a:ea typeface="Calibri"/>
                <a:cs typeface="Calibri"/>
                <a:sym typeface="Calibri"/>
              </a:rPr>
              <a:t>Nuit à Kaffrine. Une élève de Terminale S révise seule à la lumière de son téléphone, cahier de physique couvert de ratures.</a:t>
            </a:r>
            <a:endParaRPr b="0" i="0" sz="850" u="none" cap="none" strike="noStrike">
              <a:solidFill>
                <a:schemeClr val="dk1"/>
              </a:solidFill>
              <a:latin typeface="Calibri"/>
              <a:ea typeface="Calibri"/>
              <a:cs typeface="Calibri"/>
              <a:sym typeface="Calibri"/>
            </a:endParaRPr>
          </a:p>
        </p:txBody>
      </p:sp>
      <p:sp>
        <p:nvSpPr>
          <p:cNvPr id="47" name="Google Shape;47;p2"/>
          <p:cNvSpPr/>
          <p:nvPr/>
        </p:nvSpPr>
        <p:spPr>
          <a:xfrm>
            <a:off x="219456" y="2706624"/>
            <a:ext cx="1901952" cy="237744"/>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F5C2E"/>
              </a:buClr>
              <a:buSzPts val="950"/>
              <a:buFont typeface="Calibri"/>
              <a:buNone/>
            </a:pPr>
            <a:r>
              <a:rPr b="1" i="0" lang="en-US" sz="950" u="none" cap="none" strike="noStrike">
                <a:solidFill>
                  <a:srgbClr val="1F5C2E"/>
                </a:solidFill>
                <a:latin typeface="Calibri"/>
                <a:ea typeface="Calibri"/>
                <a:cs typeface="Calibri"/>
                <a:sym typeface="Calibri"/>
              </a:rPr>
              <a:t>Voix off :</a:t>
            </a:r>
            <a:endParaRPr b="0" i="0" sz="950" u="none" cap="none" strike="noStrike">
              <a:solidFill>
                <a:schemeClr val="dk1"/>
              </a:solidFill>
              <a:latin typeface="Calibri"/>
              <a:ea typeface="Calibri"/>
              <a:cs typeface="Calibri"/>
              <a:sym typeface="Calibri"/>
            </a:endParaRPr>
          </a:p>
        </p:txBody>
      </p:sp>
      <p:sp>
        <p:nvSpPr>
          <p:cNvPr id="48" name="Google Shape;48;p2"/>
          <p:cNvSpPr/>
          <p:nvPr/>
        </p:nvSpPr>
        <p:spPr>
          <a:xfrm>
            <a:off x="219456" y="2953512"/>
            <a:ext cx="1901952" cy="1180000"/>
          </a:xfrm>
          <a:prstGeom prst="roundRect">
            <a:avLst>
              <a:gd fmla="val 6410" name="adj"/>
            </a:avLst>
          </a:prstGeom>
          <a:solidFill>
            <a:srgbClr val="FFF8E1"/>
          </a:solidFill>
          <a:ln cap="flat" cmpd="sng" w="12700">
            <a:solidFill>
              <a:srgbClr val="F0A5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 name="Google Shape;49;p2"/>
          <p:cNvSpPr/>
          <p:nvPr/>
        </p:nvSpPr>
        <p:spPr>
          <a:xfrm>
            <a:off x="256032" y="2980944"/>
            <a:ext cx="1828800" cy="1125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A07800"/>
              </a:buClr>
              <a:buSzPts val="850"/>
              <a:buFont typeface="Calibri"/>
              <a:buNone/>
            </a:pPr>
            <a:r>
              <a:rPr b="0" lang="en-US" sz="850" u="none" cap="none" strike="noStrike">
                <a:solidFill>
                  <a:srgbClr val="A07800"/>
                </a:solidFill>
                <a:latin typeface="Calibri"/>
                <a:ea typeface="Calibri"/>
                <a:cs typeface="Calibri"/>
                <a:sym typeface="Calibri"/>
              </a:rPr>
              <a:t>« Kaffrine, 23 h. Aminata révise seule. Personne pour lui dire où elle s'est trompée. Au Bac 2026, à peine un candidat sur quatre a été admis dès le premier tour. » (source : Office du Bac, 26,45 %)</a:t>
            </a:r>
            <a:endParaRPr b="0" i="0" sz="850" u="none" cap="none" strike="noStrike">
              <a:solidFill>
                <a:schemeClr val="dk1"/>
              </a:solidFill>
              <a:latin typeface="Calibri"/>
              <a:ea typeface="Calibri"/>
              <a:cs typeface="Calibri"/>
              <a:sym typeface="Calibri"/>
            </a:endParaRPr>
          </a:p>
        </p:txBody>
      </p:sp>
      <p:sp>
        <p:nvSpPr>
          <p:cNvPr id="50" name="Google Shape;50;p2"/>
          <p:cNvSpPr/>
          <p:nvPr/>
        </p:nvSpPr>
        <p:spPr>
          <a:xfrm>
            <a:off x="219456" y="4190000"/>
            <a:ext cx="1901952" cy="237744"/>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F5C2E"/>
              </a:buClr>
              <a:buSzPts val="950"/>
              <a:buFont typeface="Calibri"/>
              <a:buNone/>
            </a:pPr>
            <a:r>
              <a:rPr b="1" i="0" lang="en-US" sz="950" u="none" cap="none" strike="noStrike">
                <a:solidFill>
                  <a:srgbClr val="1F5C2E"/>
                </a:solidFill>
                <a:latin typeface="Calibri"/>
                <a:ea typeface="Calibri"/>
                <a:cs typeface="Calibri"/>
                <a:sym typeface="Calibri"/>
              </a:rPr>
              <a:t>Ton :</a:t>
            </a:r>
            <a:endParaRPr b="0" i="0" sz="950" u="none" cap="none" strike="noStrike">
              <a:solidFill>
                <a:schemeClr val="dk1"/>
              </a:solidFill>
              <a:latin typeface="Calibri"/>
              <a:ea typeface="Calibri"/>
              <a:cs typeface="Calibri"/>
              <a:sym typeface="Calibri"/>
            </a:endParaRPr>
          </a:p>
        </p:txBody>
      </p:sp>
      <p:sp>
        <p:nvSpPr>
          <p:cNvPr id="51" name="Google Shape;51;p2"/>
          <p:cNvSpPr/>
          <p:nvPr/>
        </p:nvSpPr>
        <p:spPr>
          <a:xfrm>
            <a:off x="219456" y="4430000"/>
            <a:ext cx="1901952" cy="380000"/>
          </a:xfrm>
          <a:prstGeom prst="roundRect">
            <a:avLst>
              <a:gd fmla="val 6410" name="adj"/>
            </a:avLst>
          </a:prstGeom>
          <a:solidFill>
            <a:srgbClr val="FFF8E1"/>
          </a:solidFill>
          <a:ln cap="flat" cmpd="sng" w="12700">
            <a:solidFill>
              <a:srgbClr val="F0A5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 name="Google Shape;52;p2"/>
          <p:cNvSpPr/>
          <p:nvPr/>
        </p:nvSpPr>
        <p:spPr>
          <a:xfrm>
            <a:off x="256032" y="4450000"/>
            <a:ext cx="1828800" cy="33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A07800"/>
              </a:buClr>
              <a:buSzPts val="850"/>
              <a:buFont typeface="Calibri"/>
              <a:buNone/>
            </a:pPr>
            <a:r>
              <a:rPr b="0" lang="en-US" sz="850" u="none" cap="none" strike="noStrike">
                <a:solidFill>
                  <a:srgbClr val="A07800"/>
                </a:solidFill>
                <a:latin typeface="Calibri"/>
                <a:ea typeface="Calibri"/>
                <a:cs typeface="Calibri"/>
                <a:sym typeface="Calibri"/>
              </a:rPr>
              <a:t>urgence / émotion</a:t>
            </a:r>
            <a:endParaRPr b="0" i="0" sz="850" u="none" cap="none" strike="noStrike">
              <a:solidFill>
                <a:schemeClr val="dk1"/>
              </a:solidFill>
              <a:latin typeface="Calibri"/>
              <a:ea typeface="Calibri"/>
              <a:cs typeface="Calibri"/>
              <a:sym typeface="Calibri"/>
            </a:endParaRPr>
          </a:p>
        </p:txBody>
      </p:sp>
      <p:sp>
        <p:nvSpPr>
          <p:cNvPr id="53" name="Google Shape;53;p2"/>
          <p:cNvSpPr/>
          <p:nvPr/>
        </p:nvSpPr>
        <p:spPr>
          <a:xfrm>
            <a:off x="2286000" y="914400"/>
            <a:ext cx="2084832" cy="3977640"/>
          </a:xfrm>
          <a:prstGeom prst="roundRect">
            <a:avLst>
              <a:gd fmla="val 4386" name="adj"/>
            </a:avLst>
          </a:prstGeom>
          <a:solidFill>
            <a:srgbClr val="FFFFFF"/>
          </a:solidFill>
          <a:ln cap="flat" cmpd="sng" w="19050">
            <a:solidFill>
              <a:srgbClr val="F0A500"/>
            </a:solidFill>
            <a:prstDash val="solid"/>
            <a:round/>
            <a:headEnd len="sm" w="sm" type="none"/>
            <a:tailEnd len="sm" w="sm" type="none"/>
          </a:ln>
          <a:effectLst>
            <a:outerShdw blurRad="63500" rotWithShape="0" algn="bl" dir="2700000" dist="254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 name="Google Shape;54;p2"/>
          <p:cNvSpPr/>
          <p:nvPr/>
        </p:nvSpPr>
        <p:spPr>
          <a:xfrm>
            <a:off x="2286000" y="914400"/>
            <a:ext cx="2084832" cy="658368"/>
          </a:xfrm>
          <a:prstGeom prst="roundRect">
            <a:avLst>
              <a:gd fmla="val 13889" name="adj"/>
            </a:avLst>
          </a:prstGeom>
          <a:solidFill>
            <a:srgbClr val="2E7D32"/>
          </a:solidFill>
          <a:ln cap="flat" cmpd="sng" w="12700">
            <a:solidFill>
              <a:srgbClr val="2E7D3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 name="Google Shape;55;p2"/>
          <p:cNvSpPr/>
          <p:nvPr/>
        </p:nvSpPr>
        <p:spPr>
          <a:xfrm>
            <a:off x="2286000" y="1298448"/>
            <a:ext cx="2084832" cy="274320"/>
          </a:xfrm>
          <a:prstGeom prst="rect">
            <a:avLst/>
          </a:prstGeom>
          <a:solidFill>
            <a:srgbClr val="2E7D32"/>
          </a:solidFill>
          <a:ln cap="flat" cmpd="sng" w="12700">
            <a:solidFill>
              <a:srgbClr val="2E7D3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 name="Google Shape;56;p2"/>
          <p:cNvSpPr/>
          <p:nvPr/>
        </p:nvSpPr>
        <p:spPr>
          <a:xfrm>
            <a:off x="2359152" y="950976"/>
            <a:ext cx="1938528" cy="27432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900"/>
              <a:buFont typeface="Calibri"/>
              <a:buNone/>
            </a:pPr>
            <a:r>
              <a:rPr b="1" i="0" lang="en-US" sz="900" u="none" cap="none" strike="noStrike">
                <a:solidFill>
                  <a:srgbClr val="FFFFFF"/>
                </a:solidFill>
                <a:latin typeface="Calibri"/>
                <a:ea typeface="Calibri"/>
                <a:cs typeface="Calibri"/>
                <a:sym typeface="Calibri"/>
              </a:rPr>
              <a:t>ACTE 2  ·  15–30 sec</a:t>
            </a:r>
            <a:endParaRPr b="0" i="0" sz="900" u="none" cap="none" strike="noStrike">
              <a:solidFill>
                <a:schemeClr val="dk1"/>
              </a:solidFill>
              <a:latin typeface="Calibri"/>
              <a:ea typeface="Calibri"/>
              <a:cs typeface="Calibri"/>
              <a:sym typeface="Calibri"/>
            </a:endParaRPr>
          </a:p>
        </p:txBody>
      </p:sp>
      <p:sp>
        <p:nvSpPr>
          <p:cNvPr id="57" name="Google Shape;57;p2"/>
          <p:cNvSpPr/>
          <p:nvPr/>
        </p:nvSpPr>
        <p:spPr>
          <a:xfrm>
            <a:off x="2359152" y="1225296"/>
            <a:ext cx="1938528" cy="310896"/>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300"/>
              <a:buFont typeface="Cambria"/>
              <a:buNone/>
            </a:pPr>
            <a:r>
              <a:rPr b="1" i="0" lang="en-US" sz="1300" u="none" cap="none" strike="noStrike">
                <a:solidFill>
                  <a:srgbClr val="FFFFFF"/>
                </a:solidFill>
                <a:latin typeface="Cambria"/>
                <a:ea typeface="Cambria"/>
                <a:cs typeface="Cambria"/>
                <a:sym typeface="Cambria"/>
              </a:rPr>
              <a:t>La Solution</a:t>
            </a:r>
            <a:endParaRPr b="0" i="0" sz="1300" u="none" cap="none" strike="noStrike">
              <a:solidFill>
                <a:schemeClr val="dk1"/>
              </a:solidFill>
              <a:latin typeface="Calibri"/>
              <a:ea typeface="Calibri"/>
              <a:cs typeface="Calibri"/>
              <a:sym typeface="Calibri"/>
            </a:endParaRPr>
          </a:p>
        </p:txBody>
      </p:sp>
      <p:sp>
        <p:nvSpPr>
          <p:cNvPr id="58" name="Google Shape;58;p2"/>
          <p:cNvSpPr/>
          <p:nvPr/>
        </p:nvSpPr>
        <p:spPr>
          <a:xfrm>
            <a:off x="2377440" y="1664208"/>
            <a:ext cx="1901952" cy="237744"/>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F5C2E"/>
              </a:buClr>
              <a:buSzPts val="950"/>
              <a:buFont typeface="Calibri"/>
              <a:buNone/>
            </a:pPr>
            <a:r>
              <a:rPr b="1" i="0" lang="en-US" sz="950" u="none" cap="none" strike="noStrike">
                <a:solidFill>
                  <a:srgbClr val="1F5C2E"/>
                </a:solidFill>
                <a:latin typeface="Calibri"/>
                <a:ea typeface="Calibri"/>
                <a:cs typeface="Calibri"/>
                <a:sym typeface="Calibri"/>
              </a:rPr>
              <a:t>Visuel :</a:t>
            </a:r>
            <a:endParaRPr b="0" i="0" sz="950" u="none" cap="none" strike="noStrike">
              <a:solidFill>
                <a:schemeClr val="dk1"/>
              </a:solidFill>
              <a:latin typeface="Calibri"/>
              <a:ea typeface="Calibri"/>
              <a:cs typeface="Calibri"/>
              <a:sym typeface="Calibri"/>
            </a:endParaRPr>
          </a:p>
        </p:txBody>
      </p:sp>
      <p:sp>
        <p:nvSpPr>
          <p:cNvPr id="59" name="Google Shape;59;p2"/>
          <p:cNvSpPr/>
          <p:nvPr/>
        </p:nvSpPr>
        <p:spPr>
          <a:xfrm>
            <a:off x="2377440" y="1911096"/>
            <a:ext cx="1901952" cy="713232"/>
          </a:xfrm>
          <a:prstGeom prst="roundRect">
            <a:avLst>
              <a:gd fmla="val 6410" name="adj"/>
            </a:avLst>
          </a:prstGeom>
          <a:solidFill>
            <a:srgbClr val="FFF8E1"/>
          </a:solidFill>
          <a:ln cap="flat" cmpd="sng" w="12700">
            <a:solidFill>
              <a:srgbClr val="F0A5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 name="Google Shape;60;p2"/>
          <p:cNvSpPr/>
          <p:nvPr/>
        </p:nvSpPr>
        <p:spPr>
          <a:xfrm>
            <a:off x="2414016" y="1938528"/>
            <a:ext cx="1828800" cy="658368"/>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A07800"/>
              </a:buClr>
              <a:buSzPts val="850"/>
              <a:buFont typeface="Calibri"/>
              <a:buNone/>
            </a:pPr>
            <a:r>
              <a:rPr b="0" lang="en-US" sz="850" u="none" cap="none" strike="noStrike">
                <a:solidFill>
                  <a:srgbClr val="A07800"/>
                </a:solidFill>
                <a:latin typeface="Calibri"/>
                <a:ea typeface="Calibri"/>
                <a:cs typeface="Calibri"/>
                <a:sym typeface="Calibri"/>
              </a:rPr>
              <a:t>Enregistrement réel du MVP Jàng sur téléphone : Aminata choisit l'exercice JNG-PC-01 et tape sa réponse comme un message WhatsApp.</a:t>
            </a:r>
            <a:endParaRPr b="0" i="0" sz="850" u="none" cap="none" strike="noStrike">
              <a:solidFill>
                <a:schemeClr val="dk1"/>
              </a:solidFill>
              <a:latin typeface="Calibri"/>
              <a:ea typeface="Calibri"/>
              <a:cs typeface="Calibri"/>
              <a:sym typeface="Calibri"/>
            </a:endParaRPr>
          </a:p>
        </p:txBody>
      </p:sp>
      <p:sp>
        <p:nvSpPr>
          <p:cNvPr id="61" name="Google Shape;61;p2"/>
          <p:cNvSpPr/>
          <p:nvPr/>
        </p:nvSpPr>
        <p:spPr>
          <a:xfrm>
            <a:off x="2377440" y="2706624"/>
            <a:ext cx="1901952" cy="237744"/>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F5C2E"/>
              </a:buClr>
              <a:buSzPts val="950"/>
              <a:buFont typeface="Calibri"/>
              <a:buNone/>
            </a:pPr>
            <a:r>
              <a:rPr b="1" i="0" lang="en-US" sz="950" u="none" cap="none" strike="noStrike">
                <a:solidFill>
                  <a:srgbClr val="1F5C2E"/>
                </a:solidFill>
                <a:latin typeface="Calibri"/>
                <a:ea typeface="Calibri"/>
                <a:cs typeface="Calibri"/>
                <a:sym typeface="Calibri"/>
              </a:rPr>
              <a:t>Voix off :</a:t>
            </a:r>
            <a:endParaRPr b="0" i="0" sz="950" u="none" cap="none" strike="noStrike">
              <a:solidFill>
                <a:schemeClr val="dk1"/>
              </a:solidFill>
              <a:latin typeface="Calibri"/>
              <a:ea typeface="Calibri"/>
              <a:cs typeface="Calibri"/>
              <a:sym typeface="Calibri"/>
            </a:endParaRPr>
          </a:p>
        </p:txBody>
      </p:sp>
      <p:sp>
        <p:nvSpPr>
          <p:cNvPr id="62" name="Google Shape;62;p2"/>
          <p:cNvSpPr/>
          <p:nvPr/>
        </p:nvSpPr>
        <p:spPr>
          <a:xfrm>
            <a:off x="2377440" y="2953512"/>
            <a:ext cx="1901952" cy="1180000"/>
          </a:xfrm>
          <a:prstGeom prst="roundRect">
            <a:avLst>
              <a:gd fmla="val 6410" name="adj"/>
            </a:avLst>
          </a:prstGeom>
          <a:solidFill>
            <a:srgbClr val="FFF8E1"/>
          </a:solidFill>
          <a:ln cap="flat" cmpd="sng" w="12700">
            <a:solidFill>
              <a:srgbClr val="F0A5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 name="Google Shape;63;p2"/>
          <p:cNvSpPr/>
          <p:nvPr/>
        </p:nvSpPr>
        <p:spPr>
          <a:xfrm>
            <a:off x="2414016" y="2980944"/>
            <a:ext cx="1828800" cy="1125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A07800"/>
              </a:buClr>
              <a:buSzPts val="850"/>
              <a:buFont typeface="Calibri"/>
              <a:buNone/>
            </a:pPr>
            <a:r>
              <a:rPr b="0" lang="en-US" sz="850" u="none" cap="none" strike="noStrike">
                <a:solidFill>
                  <a:srgbClr val="A07800"/>
                </a:solidFill>
                <a:latin typeface="Calibri"/>
                <a:ea typeface="Calibri"/>
                <a:cs typeface="Calibri"/>
                <a:sym typeface="Calibri"/>
              </a:rPr>
              <a:t>« Voici Jàng. Aminata choisit un exercice type Bac et envoie sa réponse, comme un message WhatsApp. Quelques secondes plus tard, Jàng lui montre sa première erreur. Pas la solution : l'erreur. »</a:t>
            </a:r>
            <a:endParaRPr b="0" i="0" sz="850" u="none" cap="none" strike="noStrike">
              <a:solidFill>
                <a:schemeClr val="dk1"/>
              </a:solidFill>
              <a:latin typeface="Calibri"/>
              <a:ea typeface="Calibri"/>
              <a:cs typeface="Calibri"/>
              <a:sym typeface="Calibri"/>
            </a:endParaRPr>
          </a:p>
        </p:txBody>
      </p:sp>
      <p:sp>
        <p:nvSpPr>
          <p:cNvPr id="64" name="Google Shape;64;p2"/>
          <p:cNvSpPr/>
          <p:nvPr/>
        </p:nvSpPr>
        <p:spPr>
          <a:xfrm>
            <a:off x="2377440" y="4190000"/>
            <a:ext cx="1901952" cy="237744"/>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F5C2E"/>
              </a:buClr>
              <a:buSzPts val="950"/>
              <a:buFont typeface="Calibri"/>
              <a:buNone/>
            </a:pPr>
            <a:r>
              <a:rPr b="1" i="0" lang="en-US" sz="950" u="none" cap="none" strike="noStrike">
                <a:solidFill>
                  <a:srgbClr val="1F5C2E"/>
                </a:solidFill>
                <a:latin typeface="Calibri"/>
                <a:ea typeface="Calibri"/>
                <a:cs typeface="Calibri"/>
                <a:sym typeface="Calibri"/>
              </a:rPr>
              <a:t>Ton :</a:t>
            </a:r>
            <a:endParaRPr b="0" i="0" sz="950" u="none" cap="none" strike="noStrike">
              <a:solidFill>
                <a:schemeClr val="dk1"/>
              </a:solidFill>
              <a:latin typeface="Calibri"/>
              <a:ea typeface="Calibri"/>
              <a:cs typeface="Calibri"/>
              <a:sym typeface="Calibri"/>
            </a:endParaRPr>
          </a:p>
        </p:txBody>
      </p:sp>
      <p:sp>
        <p:nvSpPr>
          <p:cNvPr id="65" name="Google Shape;65;p2"/>
          <p:cNvSpPr/>
          <p:nvPr/>
        </p:nvSpPr>
        <p:spPr>
          <a:xfrm>
            <a:off x="2377440" y="4430000"/>
            <a:ext cx="1901952" cy="380000"/>
          </a:xfrm>
          <a:prstGeom prst="roundRect">
            <a:avLst>
              <a:gd fmla="val 6410" name="adj"/>
            </a:avLst>
          </a:prstGeom>
          <a:solidFill>
            <a:srgbClr val="FFF8E1"/>
          </a:solidFill>
          <a:ln cap="flat" cmpd="sng" w="12700">
            <a:solidFill>
              <a:srgbClr val="F0A5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 name="Google Shape;66;p2"/>
          <p:cNvSpPr/>
          <p:nvPr/>
        </p:nvSpPr>
        <p:spPr>
          <a:xfrm>
            <a:off x="2414016" y="4450000"/>
            <a:ext cx="1828800" cy="33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A07800"/>
              </a:buClr>
              <a:buSzPts val="850"/>
              <a:buFont typeface="Calibri"/>
              <a:buNone/>
            </a:pPr>
            <a:r>
              <a:rPr b="0" lang="en-US" sz="850" u="none" cap="none" strike="noStrike">
                <a:solidFill>
                  <a:srgbClr val="A07800"/>
                </a:solidFill>
                <a:latin typeface="Calibri"/>
                <a:ea typeface="Calibri"/>
                <a:cs typeface="Calibri"/>
                <a:sym typeface="Calibri"/>
              </a:rPr>
              <a:t>espoir / clarté</a:t>
            </a:r>
            <a:endParaRPr b="0" i="0" sz="850" u="none" cap="none" strike="noStrike">
              <a:solidFill>
                <a:schemeClr val="dk1"/>
              </a:solidFill>
              <a:latin typeface="Calibri"/>
              <a:ea typeface="Calibri"/>
              <a:cs typeface="Calibri"/>
              <a:sym typeface="Calibri"/>
            </a:endParaRPr>
          </a:p>
        </p:txBody>
      </p:sp>
      <p:sp>
        <p:nvSpPr>
          <p:cNvPr id="67" name="Google Shape;67;p2"/>
          <p:cNvSpPr/>
          <p:nvPr/>
        </p:nvSpPr>
        <p:spPr>
          <a:xfrm>
            <a:off x="4443984" y="914400"/>
            <a:ext cx="2084832" cy="3977640"/>
          </a:xfrm>
          <a:prstGeom prst="roundRect">
            <a:avLst>
              <a:gd fmla="val 4386" name="adj"/>
            </a:avLst>
          </a:prstGeom>
          <a:solidFill>
            <a:srgbClr val="FFFFFF"/>
          </a:solidFill>
          <a:ln cap="flat" cmpd="sng" w="19050">
            <a:solidFill>
              <a:srgbClr val="F0A500"/>
            </a:solidFill>
            <a:prstDash val="solid"/>
            <a:round/>
            <a:headEnd len="sm" w="sm" type="none"/>
            <a:tailEnd len="sm" w="sm" type="none"/>
          </a:ln>
          <a:effectLst>
            <a:outerShdw blurRad="63500" rotWithShape="0" algn="bl" dir="2700000" dist="254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 name="Google Shape;68;p2"/>
          <p:cNvSpPr/>
          <p:nvPr/>
        </p:nvSpPr>
        <p:spPr>
          <a:xfrm>
            <a:off x="4443984" y="914400"/>
            <a:ext cx="2084832" cy="658368"/>
          </a:xfrm>
          <a:prstGeom prst="roundRect">
            <a:avLst>
              <a:gd fmla="val 13889" name="adj"/>
            </a:avLst>
          </a:prstGeom>
          <a:solidFill>
            <a:srgbClr val="388E3C"/>
          </a:solidFill>
          <a:ln cap="flat" cmpd="sng" w="12700">
            <a:solidFill>
              <a:srgbClr val="388E3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 name="Google Shape;69;p2"/>
          <p:cNvSpPr/>
          <p:nvPr/>
        </p:nvSpPr>
        <p:spPr>
          <a:xfrm>
            <a:off x="4443984" y="1298448"/>
            <a:ext cx="2084832" cy="274320"/>
          </a:xfrm>
          <a:prstGeom prst="rect">
            <a:avLst/>
          </a:prstGeom>
          <a:solidFill>
            <a:srgbClr val="388E3C"/>
          </a:solidFill>
          <a:ln cap="flat" cmpd="sng" w="12700">
            <a:solidFill>
              <a:srgbClr val="388E3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 name="Google Shape;70;p2"/>
          <p:cNvSpPr/>
          <p:nvPr/>
        </p:nvSpPr>
        <p:spPr>
          <a:xfrm>
            <a:off x="4517136" y="950976"/>
            <a:ext cx="1938528" cy="27432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900"/>
              <a:buFont typeface="Calibri"/>
              <a:buNone/>
            </a:pPr>
            <a:r>
              <a:rPr b="1" i="0" lang="en-US" sz="900" u="none" cap="none" strike="noStrike">
                <a:solidFill>
                  <a:srgbClr val="FFFFFF"/>
                </a:solidFill>
                <a:latin typeface="Calibri"/>
                <a:ea typeface="Calibri"/>
                <a:cs typeface="Calibri"/>
                <a:sym typeface="Calibri"/>
              </a:rPr>
              <a:t>ACTE 3  ·  30–45 sec</a:t>
            </a:r>
            <a:endParaRPr b="0" i="0" sz="900" u="none" cap="none" strike="noStrike">
              <a:solidFill>
                <a:schemeClr val="dk1"/>
              </a:solidFill>
              <a:latin typeface="Calibri"/>
              <a:ea typeface="Calibri"/>
              <a:cs typeface="Calibri"/>
              <a:sym typeface="Calibri"/>
            </a:endParaRPr>
          </a:p>
        </p:txBody>
      </p:sp>
      <p:sp>
        <p:nvSpPr>
          <p:cNvPr id="71" name="Google Shape;71;p2"/>
          <p:cNvSpPr/>
          <p:nvPr/>
        </p:nvSpPr>
        <p:spPr>
          <a:xfrm>
            <a:off x="4517136" y="1225296"/>
            <a:ext cx="1938528" cy="310896"/>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300"/>
              <a:buFont typeface="Cambria"/>
              <a:buNone/>
            </a:pPr>
            <a:r>
              <a:rPr b="1" i="0" lang="en-US" sz="1300" u="none" cap="none" strike="noStrike">
                <a:solidFill>
                  <a:srgbClr val="FFFFFF"/>
                </a:solidFill>
                <a:latin typeface="Cambria"/>
                <a:ea typeface="Cambria"/>
                <a:cs typeface="Cambria"/>
                <a:sym typeface="Cambria"/>
              </a:rPr>
              <a:t>L'Agent IA</a:t>
            </a:r>
            <a:endParaRPr b="0" i="0" sz="1300" u="none" cap="none" strike="noStrike">
              <a:solidFill>
                <a:schemeClr val="dk1"/>
              </a:solidFill>
              <a:latin typeface="Calibri"/>
              <a:ea typeface="Calibri"/>
              <a:cs typeface="Calibri"/>
              <a:sym typeface="Calibri"/>
            </a:endParaRPr>
          </a:p>
        </p:txBody>
      </p:sp>
      <p:sp>
        <p:nvSpPr>
          <p:cNvPr id="72" name="Google Shape;72;p2"/>
          <p:cNvSpPr/>
          <p:nvPr/>
        </p:nvSpPr>
        <p:spPr>
          <a:xfrm>
            <a:off x="4535424" y="1664208"/>
            <a:ext cx="1901952" cy="237744"/>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F5C2E"/>
              </a:buClr>
              <a:buSzPts val="950"/>
              <a:buFont typeface="Calibri"/>
              <a:buNone/>
            </a:pPr>
            <a:r>
              <a:rPr b="1" i="0" lang="en-US" sz="950" u="none" cap="none" strike="noStrike">
                <a:solidFill>
                  <a:srgbClr val="1F5C2E"/>
                </a:solidFill>
                <a:latin typeface="Calibri"/>
                <a:ea typeface="Calibri"/>
                <a:cs typeface="Calibri"/>
                <a:sym typeface="Calibri"/>
              </a:rPr>
              <a:t>Visuel :</a:t>
            </a:r>
            <a:endParaRPr b="0" i="0" sz="950" u="none" cap="none" strike="noStrike">
              <a:solidFill>
                <a:schemeClr val="dk1"/>
              </a:solidFill>
              <a:latin typeface="Calibri"/>
              <a:ea typeface="Calibri"/>
              <a:cs typeface="Calibri"/>
              <a:sym typeface="Calibri"/>
            </a:endParaRPr>
          </a:p>
        </p:txBody>
      </p:sp>
      <p:sp>
        <p:nvSpPr>
          <p:cNvPr id="73" name="Google Shape;73;p2"/>
          <p:cNvSpPr/>
          <p:nvPr/>
        </p:nvSpPr>
        <p:spPr>
          <a:xfrm>
            <a:off x="4535424" y="1911096"/>
            <a:ext cx="1901952" cy="713232"/>
          </a:xfrm>
          <a:prstGeom prst="roundRect">
            <a:avLst>
              <a:gd fmla="val 6410" name="adj"/>
            </a:avLst>
          </a:prstGeom>
          <a:solidFill>
            <a:srgbClr val="FFF8E1"/>
          </a:solidFill>
          <a:ln cap="flat" cmpd="sng" w="12700">
            <a:solidFill>
              <a:srgbClr val="F0A5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 name="Google Shape;74;p2"/>
          <p:cNvSpPr/>
          <p:nvPr/>
        </p:nvSpPr>
        <p:spPr>
          <a:xfrm>
            <a:off x="4572000" y="1938528"/>
            <a:ext cx="1828800" cy="658368"/>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A07800"/>
              </a:buClr>
              <a:buSzPts val="850"/>
              <a:buFont typeface="Calibri"/>
              <a:buNone/>
            </a:pPr>
            <a:r>
              <a:rPr b="0" lang="en-US" sz="850" u="none" cap="none" strike="noStrike">
                <a:solidFill>
                  <a:srgbClr val="A07800"/>
                </a:solidFill>
                <a:latin typeface="Calibri"/>
                <a:ea typeface="Calibri"/>
                <a:cs typeface="Calibri"/>
                <a:sym typeface="Calibri"/>
              </a:rPr>
              <a:t>La correction s'affiche bloc par bloc (✅ ❌ 💡 ➡️) ; en surimpression : 2 agents IA + base de corrigés.</a:t>
            </a:r>
            <a:endParaRPr b="0" i="0" sz="850" u="none" cap="none" strike="noStrike">
              <a:solidFill>
                <a:schemeClr val="dk1"/>
              </a:solidFill>
              <a:latin typeface="Calibri"/>
              <a:ea typeface="Calibri"/>
              <a:cs typeface="Calibri"/>
              <a:sym typeface="Calibri"/>
            </a:endParaRPr>
          </a:p>
        </p:txBody>
      </p:sp>
      <p:sp>
        <p:nvSpPr>
          <p:cNvPr id="75" name="Google Shape;75;p2"/>
          <p:cNvSpPr/>
          <p:nvPr/>
        </p:nvSpPr>
        <p:spPr>
          <a:xfrm>
            <a:off x="4535424" y="2706624"/>
            <a:ext cx="1901952" cy="237744"/>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F5C2E"/>
              </a:buClr>
              <a:buSzPts val="950"/>
              <a:buFont typeface="Calibri"/>
              <a:buNone/>
            </a:pPr>
            <a:r>
              <a:rPr b="1" i="0" lang="en-US" sz="950" u="none" cap="none" strike="noStrike">
                <a:solidFill>
                  <a:srgbClr val="1F5C2E"/>
                </a:solidFill>
                <a:latin typeface="Calibri"/>
                <a:ea typeface="Calibri"/>
                <a:cs typeface="Calibri"/>
                <a:sym typeface="Calibri"/>
              </a:rPr>
              <a:t>Voix off :</a:t>
            </a:r>
            <a:endParaRPr b="0" i="0" sz="950" u="none" cap="none" strike="noStrike">
              <a:solidFill>
                <a:schemeClr val="dk1"/>
              </a:solidFill>
              <a:latin typeface="Calibri"/>
              <a:ea typeface="Calibri"/>
              <a:cs typeface="Calibri"/>
              <a:sym typeface="Calibri"/>
            </a:endParaRPr>
          </a:p>
        </p:txBody>
      </p:sp>
      <p:sp>
        <p:nvSpPr>
          <p:cNvPr id="76" name="Google Shape;76;p2"/>
          <p:cNvSpPr/>
          <p:nvPr/>
        </p:nvSpPr>
        <p:spPr>
          <a:xfrm>
            <a:off x="4535424" y="2953512"/>
            <a:ext cx="1901952" cy="1180000"/>
          </a:xfrm>
          <a:prstGeom prst="roundRect">
            <a:avLst>
              <a:gd fmla="val 6410" name="adj"/>
            </a:avLst>
          </a:prstGeom>
          <a:solidFill>
            <a:srgbClr val="FFF8E1"/>
          </a:solidFill>
          <a:ln cap="flat" cmpd="sng" w="12700">
            <a:solidFill>
              <a:srgbClr val="F0A5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 name="Google Shape;77;p2"/>
          <p:cNvSpPr/>
          <p:nvPr/>
        </p:nvSpPr>
        <p:spPr>
          <a:xfrm>
            <a:off x="4572000" y="2980944"/>
            <a:ext cx="1828800" cy="1125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A07800"/>
              </a:buClr>
              <a:buSzPts val="850"/>
              <a:buFont typeface="Calibri"/>
              <a:buNone/>
            </a:pPr>
            <a:r>
              <a:rPr b="0" lang="en-US" sz="850" u="none" cap="none" strike="noStrike">
                <a:solidFill>
                  <a:srgbClr val="A07800"/>
                </a:solidFill>
                <a:latin typeface="Calibri"/>
                <a:ea typeface="Calibri"/>
                <a:cs typeface="Calibri"/>
                <a:sym typeface="Calibri"/>
              </a:rPr>
              <a:t>« Derrière, deux agents IA. Le premier retrouve le corrigé de référence dans notre base d'exercices, au lieu de l'inventer. Le second rédige une correction de moins de 90 mots, avec un exercice pour s'entraîner. »</a:t>
            </a:r>
            <a:endParaRPr b="0" i="0" sz="850" u="none" cap="none" strike="noStrike">
              <a:solidFill>
                <a:schemeClr val="dk1"/>
              </a:solidFill>
              <a:latin typeface="Calibri"/>
              <a:ea typeface="Calibri"/>
              <a:cs typeface="Calibri"/>
              <a:sym typeface="Calibri"/>
            </a:endParaRPr>
          </a:p>
        </p:txBody>
      </p:sp>
      <p:sp>
        <p:nvSpPr>
          <p:cNvPr id="78" name="Google Shape;78;p2"/>
          <p:cNvSpPr/>
          <p:nvPr/>
        </p:nvSpPr>
        <p:spPr>
          <a:xfrm>
            <a:off x="4535424" y="4190000"/>
            <a:ext cx="1901952" cy="237744"/>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F5C2E"/>
              </a:buClr>
              <a:buSzPts val="950"/>
              <a:buFont typeface="Calibri"/>
              <a:buNone/>
            </a:pPr>
            <a:r>
              <a:rPr b="1" i="0" lang="en-US" sz="950" u="none" cap="none" strike="noStrike">
                <a:solidFill>
                  <a:srgbClr val="1F5C2E"/>
                </a:solidFill>
                <a:latin typeface="Calibri"/>
                <a:ea typeface="Calibri"/>
                <a:cs typeface="Calibri"/>
                <a:sym typeface="Calibri"/>
              </a:rPr>
              <a:t>Ton :</a:t>
            </a:r>
            <a:endParaRPr b="0" i="0" sz="950" u="none" cap="none" strike="noStrike">
              <a:solidFill>
                <a:schemeClr val="dk1"/>
              </a:solidFill>
              <a:latin typeface="Calibri"/>
              <a:ea typeface="Calibri"/>
              <a:cs typeface="Calibri"/>
              <a:sym typeface="Calibri"/>
            </a:endParaRPr>
          </a:p>
        </p:txBody>
      </p:sp>
      <p:sp>
        <p:nvSpPr>
          <p:cNvPr id="79" name="Google Shape;79;p2"/>
          <p:cNvSpPr/>
          <p:nvPr/>
        </p:nvSpPr>
        <p:spPr>
          <a:xfrm>
            <a:off x="4535424" y="4430000"/>
            <a:ext cx="1901952" cy="380000"/>
          </a:xfrm>
          <a:prstGeom prst="roundRect">
            <a:avLst>
              <a:gd fmla="val 6410" name="adj"/>
            </a:avLst>
          </a:prstGeom>
          <a:solidFill>
            <a:srgbClr val="FFF8E1"/>
          </a:solidFill>
          <a:ln cap="flat" cmpd="sng" w="12700">
            <a:solidFill>
              <a:srgbClr val="F0A5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 name="Google Shape;80;p2"/>
          <p:cNvSpPr/>
          <p:nvPr/>
        </p:nvSpPr>
        <p:spPr>
          <a:xfrm>
            <a:off x="4572000" y="4450000"/>
            <a:ext cx="1828800" cy="33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A07800"/>
              </a:buClr>
              <a:buSzPts val="850"/>
              <a:buFont typeface="Calibri"/>
              <a:buNone/>
            </a:pPr>
            <a:r>
              <a:rPr b="0" lang="en-US" sz="850" u="none" cap="none" strike="noStrike">
                <a:solidFill>
                  <a:srgbClr val="A07800"/>
                </a:solidFill>
                <a:latin typeface="Calibri"/>
                <a:ea typeface="Calibri"/>
                <a:cs typeface="Calibri"/>
                <a:sym typeface="Calibri"/>
              </a:rPr>
              <a:t>innovation / précision / confiance</a:t>
            </a:r>
            <a:endParaRPr b="0" i="0" sz="850" u="none" cap="none" strike="noStrike">
              <a:solidFill>
                <a:schemeClr val="dk1"/>
              </a:solidFill>
              <a:latin typeface="Calibri"/>
              <a:ea typeface="Calibri"/>
              <a:cs typeface="Calibri"/>
              <a:sym typeface="Calibri"/>
            </a:endParaRPr>
          </a:p>
        </p:txBody>
      </p:sp>
      <p:sp>
        <p:nvSpPr>
          <p:cNvPr id="81" name="Google Shape;81;p2"/>
          <p:cNvSpPr/>
          <p:nvPr/>
        </p:nvSpPr>
        <p:spPr>
          <a:xfrm>
            <a:off x="6601968" y="914400"/>
            <a:ext cx="2084832" cy="3977640"/>
          </a:xfrm>
          <a:prstGeom prst="roundRect">
            <a:avLst>
              <a:gd fmla="val 4386" name="adj"/>
            </a:avLst>
          </a:prstGeom>
          <a:solidFill>
            <a:srgbClr val="FFFFFF"/>
          </a:solidFill>
          <a:ln cap="flat" cmpd="sng" w="19050">
            <a:solidFill>
              <a:srgbClr val="F0A500"/>
            </a:solidFill>
            <a:prstDash val="solid"/>
            <a:round/>
            <a:headEnd len="sm" w="sm" type="none"/>
            <a:tailEnd len="sm" w="sm" type="none"/>
          </a:ln>
          <a:effectLst>
            <a:outerShdw blurRad="63500" rotWithShape="0" algn="bl" dir="2700000" dist="254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2"/>
          <p:cNvSpPr/>
          <p:nvPr/>
        </p:nvSpPr>
        <p:spPr>
          <a:xfrm>
            <a:off x="6601968" y="914400"/>
            <a:ext cx="2084832" cy="658368"/>
          </a:xfrm>
          <a:prstGeom prst="roundRect">
            <a:avLst>
              <a:gd fmla="val 13889" name="adj"/>
            </a:avLst>
          </a:prstGeom>
          <a:solidFill>
            <a:srgbClr val="43A047"/>
          </a:solidFill>
          <a:ln cap="flat" cmpd="sng" w="12700">
            <a:solidFill>
              <a:srgbClr val="43A04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 name="Google Shape;83;p2"/>
          <p:cNvSpPr/>
          <p:nvPr/>
        </p:nvSpPr>
        <p:spPr>
          <a:xfrm>
            <a:off x="6601968" y="1298448"/>
            <a:ext cx="2084832" cy="274320"/>
          </a:xfrm>
          <a:prstGeom prst="rect">
            <a:avLst/>
          </a:prstGeom>
          <a:solidFill>
            <a:srgbClr val="43A047"/>
          </a:solidFill>
          <a:ln cap="flat" cmpd="sng" w="12700">
            <a:solidFill>
              <a:srgbClr val="43A04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 name="Google Shape;84;p2"/>
          <p:cNvSpPr/>
          <p:nvPr/>
        </p:nvSpPr>
        <p:spPr>
          <a:xfrm>
            <a:off x="6675120" y="950976"/>
            <a:ext cx="1938528" cy="27432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900"/>
              <a:buFont typeface="Calibri"/>
              <a:buNone/>
            </a:pPr>
            <a:r>
              <a:rPr b="1" i="0" lang="en-US" sz="900" u="none" cap="none" strike="noStrike">
                <a:solidFill>
                  <a:srgbClr val="FFFFFF"/>
                </a:solidFill>
                <a:latin typeface="Calibri"/>
                <a:ea typeface="Calibri"/>
                <a:cs typeface="Calibri"/>
                <a:sym typeface="Calibri"/>
              </a:rPr>
              <a:t>ACTE 4  ·  45–60 sec</a:t>
            </a:r>
            <a:endParaRPr b="0" i="0" sz="900" u="none" cap="none" strike="noStrike">
              <a:solidFill>
                <a:schemeClr val="dk1"/>
              </a:solidFill>
              <a:latin typeface="Calibri"/>
              <a:ea typeface="Calibri"/>
              <a:cs typeface="Calibri"/>
              <a:sym typeface="Calibri"/>
            </a:endParaRPr>
          </a:p>
        </p:txBody>
      </p:sp>
      <p:sp>
        <p:nvSpPr>
          <p:cNvPr id="85" name="Google Shape;85;p2"/>
          <p:cNvSpPr/>
          <p:nvPr/>
        </p:nvSpPr>
        <p:spPr>
          <a:xfrm>
            <a:off x="6675120" y="1225296"/>
            <a:ext cx="1938528" cy="310896"/>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300"/>
              <a:buFont typeface="Cambria"/>
              <a:buNone/>
            </a:pPr>
            <a:r>
              <a:rPr b="1" i="0" lang="en-US" sz="1300" u="none" cap="none" strike="noStrike">
                <a:solidFill>
                  <a:srgbClr val="FFFFFF"/>
                </a:solidFill>
                <a:latin typeface="Cambria"/>
                <a:ea typeface="Cambria"/>
                <a:cs typeface="Cambria"/>
                <a:sym typeface="Cambria"/>
              </a:rPr>
              <a:t>Impact + CTA</a:t>
            </a:r>
            <a:endParaRPr b="0" i="0" sz="1300" u="none" cap="none" strike="noStrike">
              <a:solidFill>
                <a:schemeClr val="dk1"/>
              </a:solidFill>
              <a:latin typeface="Calibri"/>
              <a:ea typeface="Calibri"/>
              <a:cs typeface="Calibri"/>
              <a:sym typeface="Calibri"/>
            </a:endParaRPr>
          </a:p>
        </p:txBody>
      </p:sp>
      <p:sp>
        <p:nvSpPr>
          <p:cNvPr id="86" name="Google Shape;86;p2"/>
          <p:cNvSpPr/>
          <p:nvPr/>
        </p:nvSpPr>
        <p:spPr>
          <a:xfrm>
            <a:off x="6693408" y="1664208"/>
            <a:ext cx="1901952" cy="237744"/>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F5C2E"/>
              </a:buClr>
              <a:buSzPts val="950"/>
              <a:buFont typeface="Calibri"/>
              <a:buNone/>
            </a:pPr>
            <a:r>
              <a:rPr b="1" i="0" lang="en-US" sz="950" u="none" cap="none" strike="noStrike">
                <a:solidFill>
                  <a:srgbClr val="1F5C2E"/>
                </a:solidFill>
                <a:latin typeface="Calibri"/>
                <a:ea typeface="Calibri"/>
                <a:cs typeface="Calibri"/>
                <a:sym typeface="Calibri"/>
              </a:rPr>
              <a:t>Visuel :</a:t>
            </a:r>
            <a:endParaRPr b="0" i="0" sz="950" u="none" cap="none" strike="noStrike">
              <a:solidFill>
                <a:schemeClr val="dk1"/>
              </a:solidFill>
              <a:latin typeface="Calibri"/>
              <a:ea typeface="Calibri"/>
              <a:cs typeface="Calibri"/>
              <a:sym typeface="Calibri"/>
            </a:endParaRPr>
          </a:p>
        </p:txBody>
      </p:sp>
      <p:sp>
        <p:nvSpPr>
          <p:cNvPr id="87" name="Google Shape;87;p2"/>
          <p:cNvSpPr/>
          <p:nvPr/>
        </p:nvSpPr>
        <p:spPr>
          <a:xfrm>
            <a:off x="6693408" y="1911096"/>
            <a:ext cx="1901952" cy="713232"/>
          </a:xfrm>
          <a:prstGeom prst="roundRect">
            <a:avLst>
              <a:gd fmla="val 6410" name="adj"/>
            </a:avLst>
          </a:prstGeom>
          <a:solidFill>
            <a:srgbClr val="FFF8E1"/>
          </a:solidFill>
          <a:ln cap="flat" cmpd="sng" w="12700">
            <a:solidFill>
              <a:srgbClr val="F0A5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 name="Google Shape;88;p2"/>
          <p:cNvSpPr/>
          <p:nvPr/>
        </p:nvSpPr>
        <p:spPr>
          <a:xfrm>
            <a:off x="6729984" y="1938528"/>
            <a:ext cx="1828800" cy="658368"/>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A07800"/>
              </a:buClr>
              <a:buSzPts val="850"/>
              <a:buFont typeface="Calibri"/>
              <a:buNone/>
            </a:pPr>
            <a:r>
              <a:rPr b="0" lang="en-US" sz="850" u="none" cap="none" strike="noStrike">
                <a:solidFill>
                  <a:srgbClr val="A07800"/>
                </a:solidFill>
                <a:latin typeface="Calibri"/>
                <a:ea typeface="Calibri"/>
                <a:cs typeface="Calibri"/>
                <a:sym typeface="Calibri"/>
              </a:rPr>
              <a:t>Aminata réussit l'exercice similaire et sourit. À l'écran : « 1 correction &lt; 100 Ko », puis logo Jàng, URL Vercel et QR code.</a:t>
            </a:r>
            <a:endParaRPr b="0" i="0" sz="850" u="none" cap="none" strike="noStrike">
              <a:solidFill>
                <a:schemeClr val="dk1"/>
              </a:solidFill>
              <a:latin typeface="Calibri"/>
              <a:ea typeface="Calibri"/>
              <a:cs typeface="Calibri"/>
              <a:sym typeface="Calibri"/>
            </a:endParaRPr>
          </a:p>
        </p:txBody>
      </p:sp>
      <p:sp>
        <p:nvSpPr>
          <p:cNvPr id="89" name="Google Shape;89;p2"/>
          <p:cNvSpPr/>
          <p:nvPr/>
        </p:nvSpPr>
        <p:spPr>
          <a:xfrm>
            <a:off x="6693408" y="2706624"/>
            <a:ext cx="1901952" cy="237744"/>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F5C2E"/>
              </a:buClr>
              <a:buSzPts val="950"/>
              <a:buFont typeface="Calibri"/>
              <a:buNone/>
            </a:pPr>
            <a:r>
              <a:rPr b="1" i="0" lang="en-US" sz="950" u="none" cap="none" strike="noStrike">
                <a:solidFill>
                  <a:srgbClr val="1F5C2E"/>
                </a:solidFill>
                <a:latin typeface="Calibri"/>
                <a:ea typeface="Calibri"/>
                <a:cs typeface="Calibri"/>
                <a:sym typeface="Calibri"/>
              </a:rPr>
              <a:t>Voix off :</a:t>
            </a:r>
            <a:endParaRPr b="0" i="0" sz="950" u="none" cap="none" strike="noStrike">
              <a:solidFill>
                <a:schemeClr val="dk1"/>
              </a:solidFill>
              <a:latin typeface="Calibri"/>
              <a:ea typeface="Calibri"/>
              <a:cs typeface="Calibri"/>
              <a:sym typeface="Calibri"/>
            </a:endParaRPr>
          </a:p>
        </p:txBody>
      </p:sp>
      <p:sp>
        <p:nvSpPr>
          <p:cNvPr id="90" name="Google Shape;90;p2"/>
          <p:cNvSpPr/>
          <p:nvPr/>
        </p:nvSpPr>
        <p:spPr>
          <a:xfrm>
            <a:off x="6693408" y="2953512"/>
            <a:ext cx="1901952" cy="1180000"/>
          </a:xfrm>
          <a:prstGeom prst="roundRect">
            <a:avLst>
              <a:gd fmla="val 6410" name="adj"/>
            </a:avLst>
          </a:prstGeom>
          <a:solidFill>
            <a:srgbClr val="FFF8E1"/>
          </a:solidFill>
          <a:ln cap="flat" cmpd="sng" w="12700">
            <a:solidFill>
              <a:srgbClr val="F0A5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 name="Google Shape;91;p2"/>
          <p:cNvSpPr/>
          <p:nvPr/>
        </p:nvSpPr>
        <p:spPr>
          <a:xfrm>
            <a:off x="6729984" y="2980944"/>
            <a:ext cx="1828800" cy="1125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A07800"/>
              </a:buClr>
              <a:buSzPts val="850"/>
              <a:buFont typeface="Calibri"/>
              <a:buNone/>
            </a:pPr>
            <a:r>
              <a:rPr b="0" lang="en-US" sz="850" u="none" cap="none" strike="noStrike">
                <a:solidFill>
                  <a:srgbClr val="A07800"/>
                </a:solidFill>
                <a:latin typeface="Calibri"/>
                <a:ea typeface="Calibri"/>
                <a:cs typeface="Calibri"/>
                <a:sym typeface="Calibri"/>
              </a:rPr>
              <a:t>« Une correction pèse moins qu'une photo WhatsApp. Notre objectif : un correcteur dans la poche de chaque élève de Terminale S en région. Jàng, en wolof : apprendre. Essaie-le sur notre site. »</a:t>
            </a:r>
            <a:endParaRPr b="0" i="0" sz="850" u="none" cap="none" strike="noStrike">
              <a:solidFill>
                <a:schemeClr val="dk1"/>
              </a:solidFill>
              <a:latin typeface="Calibri"/>
              <a:ea typeface="Calibri"/>
              <a:cs typeface="Calibri"/>
              <a:sym typeface="Calibri"/>
            </a:endParaRPr>
          </a:p>
        </p:txBody>
      </p:sp>
      <p:sp>
        <p:nvSpPr>
          <p:cNvPr id="92" name="Google Shape;92;p2"/>
          <p:cNvSpPr/>
          <p:nvPr/>
        </p:nvSpPr>
        <p:spPr>
          <a:xfrm>
            <a:off x="6693408" y="4190000"/>
            <a:ext cx="1901952" cy="237744"/>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F5C2E"/>
              </a:buClr>
              <a:buSzPts val="950"/>
              <a:buFont typeface="Calibri"/>
              <a:buNone/>
            </a:pPr>
            <a:r>
              <a:rPr b="1" i="0" lang="en-US" sz="950" u="none" cap="none" strike="noStrike">
                <a:solidFill>
                  <a:srgbClr val="1F5C2E"/>
                </a:solidFill>
                <a:latin typeface="Calibri"/>
                <a:ea typeface="Calibri"/>
                <a:cs typeface="Calibri"/>
                <a:sym typeface="Calibri"/>
              </a:rPr>
              <a:t>Ton :</a:t>
            </a:r>
            <a:endParaRPr b="0" i="0" sz="950" u="none" cap="none" strike="noStrike">
              <a:solidFill>
                <a:schemeClr val="dk1"/>
              </a:solidFill>
              <a:latin typeface="Calibri"/>
              <a:ea typeface="Calibri"/>
              <a:cs typeface="Calibri"/>
              <a:sym typeface="Calibri"/>
            </a:endParaRPr>
          </a:p>
        </p:txBody>
      </p:sp>
      <p:sp>
        <p:nvSpPr>
          <p:cNvPr id="93" name="Google Shape;93;p2"/>
          <p:cNvSpPr/>
          <p:nvPr/>
        </p:nvSpPr>
        <p:spPr>
          <a:xfrm>
            <a:off x="6693408" y="4430000"/>
            <a:ext cx="1901952" cy="380000"/>
          </a:xfrm>
          <a:prstGeom prst="roundRect">
            <a:avLst>
              <a:gd fmla="val 6410" name="adj"/>
            </a:avLst>
          </a:prstGeom>
          <a:solidFill>
            <a:srgbClr val="FFF8E1"/>
          </a:solidFill>
          <a:ln cap="flat" cmpd="sng" w="12700">
            <a:solidFill>
              <a:srgbClr val="F0A5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 name="Google Shape;94;p2"/>
          <p:cNvSpPr/>
          <p:nvPr/>
        </p:nvSpPr>
        <p:spPr>
          <a:xfrm>
            <a:off x="6729984" y="4450000"/>
            <a:ext cx="1828800" cy="33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A07800"/>
              </a:buClr>
              <a:buSzPts val="850"/>
              <a:buFont typeface="Calibri"/>
              <a:buNone/>
            </a:pPr>
            <a:r>
              <a:rPr b="0" lang="en-US" sz="850" u="none" cap="none" strike="noStrike">
                <a:solidFill>
                  <a:srgbClr val="A07800"/>
                </a:solidFill>
                <a:latin typeface="Calibri"/>
                <a:ea typeface="Calibri"/>
                <a:cs typeface="Calibri"/>
                <a:sym typeface="Calibri"/>
              </a:rPr>
              <a:t>conviction / appel à l'action</a:t>
            </a:r>
            <a:endParaRPr b="0" i="0" sz="850" u="none" cap="none" strike="noStrike">
              <a:solidFill>
                <a:schemeClr val="dk1"/>
              </a:solidFill>
              <a:latin typeface="Calibri"/>
              <a:ea typeface="Calibri"/>
              <a:cs typeface="Calibri"/>
              <a:sym typeface="Calibri"/>
            </a:endParaRPr>
          </a:p>
        </p:txBody>
      </p:sp>
      <p:sp>
        <p:nvSpPr>
          <p:cNvPr id="95" name="Google Shape;95;p2"/>
          <p:cNvSpPr/>
          <p:nvPr/>
        </p:nvSpPr>
        <p:spPr>
          <a:xfrm>
            <a:off x="128016" y="4956048"/>
            <a:ext cx="8887968" cy="0"/>
          </a:xfrm>
          <a:prstGeom prst="roundRect">
            <a:avLst>
              <a:gd fmla="val 16667" name="adj"/>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 name="Google Shape;96;p2"/>
          <p:cNvSpPr/>
          <p:nvPr/>
        </p:nvSpPr>
        <p:spPr>
          <a:xfrm>
            <a:off x="128016" y="4956048"/>
            <a:ext cx="8887968" cy="0"/>
          </a:xfrm>
          <a:prstGeom prst="roundRect">
            <a:avLst>
              <a:gd fmla="val 16667" name="adj"/>
            </a:avLst>
          </a:prstGeom>
          <a:solidFill>
            <a:srgbClr val="1A2F23"/>
          </a:solidFill>
          <a:ln cap="flat" cmpd="sng" w="12700">
            <a:solidFill>
              <a:srgbClr val="4CAF7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 name="Google Shape;97;p2"/>
          <p:cNvSpPr/>
          <p:nvPr/>
        </p:nvSpPr>
        <p:spPr>
          <a:xfrm>
            <a:off x="0" y="5029200"/>
            <a:ext cx="9144000" cy="18288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CCCCCC"/>
              </a:buClr>
              <a:buSzPts val="700"/>
              <a:buFont typeface="Calibri"/>
              <a:buNone/>
            </a:pPr>
            <a:r>
              <a:rPr b="0" i="0" lang="en-US" sz="700" u="none" cap="none" strike="noStrike">
                <a:solidFill>
                  <a:srgbClr val="CCCCCC"/>
                </a:solidFill>
                <a:latin typeface="Calibri"/>
                <a:ea typeface="Calibri"/>
                <a:cs typeface="Calibri"/>
                <a:sym typeface="Calibri"/>
              </a:rPr>
              <a:t>GET 409 | Swiss UMEF University — Campus de Dakar | S7</a:t>
            </a:r>
            <a:endParaRPr b="0" i="0" sz="700" u="none" cap="none" strike="noStrike">
              <a:solidFill>
                <a:schemeClr val="dk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02" name="Shape 102"/>
        <p:cNvGrpSpPr/>
        <p:nvPr/>
      </p:nvGrpSpPr>
      <p:grpSpPr>
        <a:xfrm>
          <a:off x="0" y="0"/>
          <a:ext cx="0" cy="0"/>
          <a:chOff x="0" y="0"/>
          <a:chExt cx="0" cy="0"/>
        </a:xfrm>
      </p:grpSpPr>
      <p:sp>
        <p:nvSpPr>
          <p:cNvPr id="103" name="Google Shape;103;p3"/>
          <p:cNvSpPr/>
          <p:nvPr/>
        </p:nvSpPr>
        <p:spPr>
          <a:xfrm>
            <a:off x="0" y="0"/>
            <a:ext cx="9144000" cy="822960"/>
          </a:xfrm>
          <a:prstGeom prst="rect">
            <a:avLst/>
          </a:prstGeom>
          <a:solidFill>
            <a:srgbClr val="1F5C2E"/>
          </a:solidFill>
          <a:ln cap="flat" cmpd="sng" w="12700">
            <a:solidFill>
              <a:srgbClr val="1F5C2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 name="Google Shape;104;p3"/>
          <p:cNvSpPr/>
          <p:nvPr/>
        </p:nvSpPr>
        <p:spPr>
          <a:xfrm>
            <a:off x="365760" y="0"/>
            <a:ext cx="8412480" cy="8229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2000"/>
              <a:buFont typeface="Cambria"/>
              <a:buNone/>
            </a:pPr>
            <a:r>
              <a:rPr b="1" i="0" lang="en-US" sz="2000" u="none" cap="none" strike="noStrike">
                <a:solidFill>
                  <a:srgbClr val="FFFFFF"/>
                </a:solidFill>
                <a:latin typeface="Cambria"/>
                <a:ea typeface="Cambria"/>
                <a:cs typeface="Cambria"/>
                <a:sym typeface="Cambria"/>
              </a:rPr>
              <a:t>AIDE — Prompt Claude pour générer ton script</a:t>
            </a:r>
            <a:endParaRPr b="0" i="0" sz="2000" u="none" cap="none" strike="noStrike">
              <a:solidFill>
                <a:schemeClr val="dk1"/>
              </a:solidFill>
              <a:latin typeface="Calibri"/>
              <a:ea typeface="Calibri"/>
              <a:cs typeface="Calibri"/>
              <a:sym typeface="Calibri"/>
            </a:endParaRPr>
          </a:p>
        </p:txBody>
      </p:sp>
      <p:sp>
        <p:nvSpPr>
          <p:cNvPr id="105" name="Google Shape;105;p3"/>
          <p:cNvSpPr/>
          <p:nvPr/>
        </p:nvSpPr>
        <p:spPr>
          <a:xfrm>
            <a:off x="228600" y="960120"/>
            <a:ext cx="8686800" cy="3200400"/>
          </a:xfrm>
          <a:prstGeom prst="roundRect">
            <a:avLst>
              <a:gd fmla="val 2857" name="adj"/>
            </a:avLst>
          </a:prstGeom>
          <a:solidFill>
            <a:srgbClr val="1A2F23"/>
          </a:solidFill>
          <a:ln cap="flat" cmpd="sng" w="19050">
            <a:solidFill>
              <a:srgbClr val="4CAF7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 name="Google Shape;106;p3"/>
          <p:cNvSpPr/>
          <p:nvPr/>
        </p:nvSpPr>
        <p:spPr>
          <a:xfrm>
            <a:off x="411480" y="1024128"/>
            <a:ext cx="8321040" cy="34747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4CAF7D"/>
              </a:buClr>
              <a:buSzPts val="1200"/>
              <a:buFont typeface="Calibri"/>
              <a:buNone/>
            </a:pPr>
            <a:r>
              <a:rPr b="1" i="0" lang="en-US" sz="1200" u="none" cap="none" strike="noStrike">
                <a:solidFill>
                  <a:srgbClr val="4CAF7D"/>
                </a:solidFill>
                <a:latin typeface="Calibri"/>
                <a:ea typeface="Calibri"/>
                <a:cs typeface="Calibri"/>
                <a:sym typeface="Calibri"/>
              </a:rPr>
              <a:t>💬  Prompt à copier dans Claude ou ChatGPT :</a:t>
            </a:r>
            <a:endParaRPr b="0" i="0" sz="1200" u="none" cap="none" strike="noStrike">
              <a:solidFill>
                <a:schemeClr val="dk1"/>
              </a:solidFill>
              <a:latin typeface="Calibri"/>
              <a:ea typeface="Calibri"/>
              <a:cs typeface="Calibri"/>
              <a:sym typeface="Calibri"/>
            </a:endParaRPr>
          </a:p>
        </p:txBody>
      </p:sp>
      <p:sp>
        <p:nvSpPr>
          <p:cNvPr id="107" name="Google Shape;107;p3"/>
          <p:cNvSpPr/>
          <p:nvPr/>
        </p:nvSpPr>
        <p:spPr>
          <a:xfrm>
            <a:off x="411480" y="1417320"/>
            <a:ext cx="8321040" cy="260604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D0F0D8"/>
              </a:buClr>
              <a:buSzPts val="1050"/>
              <a:buFont typeface="Calibri"/>
              <a:buNone/>
            </a:pPr>
            <a:r>
              <a:rPr b="0" i="0" lang="en-US" sz="1050" u="none" cap="none" strike="noStrike">
                <a:solidFill>
                  <a:srgbClr val="D0F0D8"/>
                </a:solidFill>
                <a:latin typeface="Calibri"/>
                <a:ea typeface="Calibri"/>
                <a:cs typeface="Calibri"/>
                <a:sym typeface="Calibri"/>
              </a:rPr>
              <a:t>Rédige le script d'un teaser vidéo de 60 secondes pour mon projet </a:t>
            </a:r>
            <a:r>
              <a:rPr b="1" lang="en-US" sz="1050">
                <a:solidFill>
                  <a:srgbClr val="E8A020"/>
                </a:solidFill>
                <a:latin typeface="Calibri"/>
                <a:ea typeface="Calibri"/>
                <a:cs typeface="Calibri"/>
                <a:sym typeface="Calibri"/>
              </a:rPr>
              <a:t>Jàng</a:t>
            </a:r>
            <a:r>
              <a:rPr b="0" i="0" lang="en-US" sz="1050" u="none" cap="none" strike="noStrike">
                <a:solidFill>
                  <a:srgbClr val="D0F0D8"/>
                </a:solidFill>
                <a:latin typeface="Calibri"/>
                <a:ea typeface="Calibri"/>
                <a:cs typeface="Calibri"/>
                <a:sym typeface="Calibri"/>
              </a:rPr>
              <a:t>.</a:t>
            </a:r>
            <a:br>
              <a:rPr b="0" i="0" lang="en-US" sz="1050" u="none" cap="none" strike="noStrike">
                <a:solidFill>
                  <a:srgbClr val="D0F0D8"/>
                </a:solidFill>
                <a:latin typeface="Calibri"/>
                <a:ea typeface="Calibri"/>
                <a:cs typeface="Calibri"/>
                <a:sym typeface="Calibri"/>
              </a:rPr>
            </a:br>
            <a:r>
              <a:rPr b="0" i="0" lang="en-US" sz="1050" u="none" cap="none" strike="noStrike">
                <a:solidFill>
                  <a:srgbClr val="D0F0D8"/>
                </a:solidFill>
                <a:latin typeface="Calibri"/>
                <a:ea typeface="Calibri"/>
                <a:cs typeface="Calibri"/>
                <a:sym typeface="Calibri"/>
              </a:rPr>
              <a:t>Structure en 4 actes de 15 secondes chacun :</a:t>
            </a:r>
            <a:br>
              <a:rPr b="0" i="0" lang="en-US" sz="1050" u="none" cap="none" strike="noStrike">
                <a:solidFill>
                  <a:srgbClr val="D0F0D8"/>
                </a:solidFill>
                <a:latin typeface="Calibri"/>
                <a:ea typeface="Calibri"/>
                <a:cs typeface="Calibri"/>
                <a:sym typeface="Calibri"/>
              </a:rPr>
            </a:br>
            <a:r>
              <a:rPr b="0" i="0" lang="en-US" sz="1050" u="none" cap="none" strike="noStrike">
                <a:solidFill>
                  <a:srgbClr val="A8D5B5"/>
                </a:solidFill>
                <a:latin typeface="Calibri"/>
                <a:ea typeface="Calibri"/>
                <a:cs typeface="Calibri"/>
                <a:sym typeface="Calibri"/>
              </a:rPr>
              <a:t>- Acte 1 (0–15 sec) : Le Problème — choc visuel + statistique clé (source : </a:t>
            </a:r>
            <a:r>
              <a:rPr b="1" i="0" lang="en-US" sz="1050" u="none" cap="none" strike="noStrike">
                <a:solidFill>
                  <a:srgbClr val="E8A020"/>
                </a:solidFill>
                <a:latin typeface="Calibri"/>
                <a:ea typeface="Calibri"/>
                <a:cs typeface="Calibri"/>
                <a:sym typeface="Calibri"/>
              </a:rPr>
              <a:t>Office du Bac — 26,45 % d'admis au 1er tour du Bac 2026</a:t>
            </a:r>
            <a:r>
              <a:rPr b="0" i="0" lang="en-US" sz="1050" u="none" cap="none" strike="noStrike">
                <a:solidFill>
                  <a:srgbClr val="A8D5B5"/>
                </a:solidFill>
                <a:latin typeface="Calibri"/>
                <a:ea typeface="Calibri"/>
                <a:cs typeface="Calibri"/>
                <a:sym typeface="Calibri"/>
              </a:rPr>
              <a:t>)</a:t>
            </a:r>
            <a:br>
              <a:rPr b="0" i="0" lang="en-US" sz="1050" u="none" cap="none" strike="noStrike">
                <a:solidFill>
                  <a:srgbClr val="A8D5B5"/>
                </a:solidFill>
                <a:latin typeface="Calibri"/>
                <a:ea typeface="Calibri"/>
                <a:cs typeface="Calibri"/>
                <a:sym typeface="Calibri"/>
              </a:rPr>
            </a:br>
            <a:r>
              <a:rPr b="0" i="0" lang="en-US" sz="1050" u="none" cap="none" strike="noStrike">
                <a:solidFill>
                  <a:srgbClr val="A8D5B5"/>
                </a:solidFill>
                <a:latin typeface="Calibri"/>
                <a:ea typeface="Calibri"/>
                <a:cs typeface="Calibri"/>
                <a:sym typeface="Calibri"/>
              </a:rPr>
              <a:t>- Acte 2 (15–30 sec) : La Solution — démo MVP, ton espoir</a:t>
            </a:r>
            <a:br>
              <a:rPr b="0" i="0" lang="en-US" sz="1050" u="none" cap="none" strike="noStrike">
                <a:solidFill>
                  <a:srgbClr val="A8D5B5"/>
                </a:solidFill>
                <a:latin typeface="Calibri"/>
                <a:ea typeface="Calibri"/>
                <a:cs typeface="Calibri"/>
                <a:sym typeface="Calibri"/>
              </a:rPr>
            </a:br>
            <a:r>
              <a:rPr b="0" i="0" lang="en-US" sz="1050" u="none" cap="none" strike="noStrike">
                <a:solidFill>
                  <a:srgbClr val="A8D5B5"/>
                </a:solidFill>
                <a:latin typeface="Calibri"/>
                <a:ea typeface="Calibri"/>
                <a:cs typeface="Calibri"/>
                <a:sym typeface="Calibri"/>
              </a:rPr>
              <a:t>- Acte 3 (30–45 sec) : L'Agent IA — réponse RAG, ton innovation</a:t>
            </a:r>
            <a:br>
              <a:rPr b="0" i="0" lang="en-US" sz="1050" u="none" cap="none" strike="noStrike">
                <a:solidFill>
                  <a:srgbClr val="A8D5B5"/>
                </a:solidFill>
                <a:latin typeface="Calibri"/>
                <a:ea typeface="Calibri"/>
                <a:cs typeface="Calibri"/>
                <a:sym typeface="Calibri"/>
              </a:rPr>
            </a:br>
            <a:r>
              <a:rPr b="0" i="0" lang="en-US" sz="1050" u="none" cap="none" strike="noStrike">
                <a:solidFill>
                  <a:srgbClr val="A8D5B5"/>
                </a:solidFill>
                <a:latin typeface="Calibri"/>
                <a:ea typeface="Calibri"/>
                <a:cs typeface="Calibri"/>
                <a:sym typeface="Calibri"/>
              </a:rPr>
              <a:t>- Acte 4 (45–60 sec) : Impact + CTA — chiffres de projection + URL </a:t>
            </a:r>
            <a:r>
              <a:rPr b="1" i="0" lang="en-US" sz="1050" u="none" cap="none" strike="noStrike">
                <a:solidFill>
                  <a:srgbClr val="E8A020"/>
                </a:solidFill>
                <a:latin typeface="Calibri"/>
                <a:ea typeface="Calibri"/>
                <a:cs typeface="Calibri"/>
                <a:sym typeface="Calibri"/>
              </a:rPr>
              <a:t>du site Jàng sur Vercel</a:t>
            </a:r>
            <a:br>
              <a:rPr b="0" i="0" lang="en-US" sz="1050" u="none" cap="none" strike="noStrike">
                <a:solidFill>
                  <a:srgbClr val="A8D5B5"/>
                </a:solidFill>
                <a:latin typeface="Calibri"/>
                <a:ea typeface="Calibri"/>
                <a:cs typeface="Calibri"/>
                <a:sym typeface="Calibri"/>
              </a:rPr>
            </a:br>
            <a:r>
              <a:rPr b="0" i="0" lang="en-US" sz="1050" u="none" cap="none" strike="noStrike">
                <a:solidFill>
                  <a:srgbClr val="A8D5B5"/>
                </a:solidFill>
                <a:latin typeface="Calibri"/>
                <a:ea typeface="Calibri"/>
                <a:cs typeface="Calibri"/>
                <a:sym typeface="Calibri"/>
              </a:rPr>
              <a:t>Pour chaque acte, fournis : voix off (texte exact) + indication visuelle + ton.</a:t>
            </a:r>
            <a:br>
              <a:rPr b="0" i="0" lang="en-US" sz="1050" u="none" cap="none" strike="noStrike">
                <a:solidFill>
                  <a:srgbClr val="A8D5B5"/>
                </a:solidFill>
                <a:latin typeface="Calibri"/>
                <a:ea typeface="Calibri"/>
                <a:cs typeface="Calibri"/>
                <a:sym typeface="Calibri"/>
              </a:rPr>
            </a:br>
            <a:r>
              <a:rPr b="0" i="0" lang="en-US" sz="1050" u="none" cap="none" strike="noStrike">
                <a:solidFill>
                  <a:srgbClr val="D0F0D8"/>
                </a:solidFill>
                <a:latin typeface="Calibri"/>
                <a:ea typeface="Calibri"/>
                <a:cs typeface="Calibri"/>
                <a:sym typeface="Calibri"/>
              </a:rPr>
              <a:t>Contexte projet : </a:t>
            </a:r>
            <a:r>
              <a:rPr b="1" i="0" lang="en-US" sz="1050" u="none" cap="none" strike="noStrike">
                <a:solidFill>
                  <a:srgbClr val="E8A020"/>
                </a:solidFill>
                <a:latin typeface="Calibri"/>
                <a:ea typeface="Calibri"/>
                <a:cs typeface="Calibri"/>
                <a:sym typeface="Calibri"/>
              </a:rPr>
              <a:t>Jàng corrige les exercices type Bac de Physique-Chimie des élèves de Terminale S des régions du Sénégal qui révisent sans professeur : l'élève envoie sa réponse, Jàng pointe sa première erreur et propose un exercice similaire. Deux agents IA (Dify) s'appuient sur une base de corrigés vérifiés (RAG), avec des messages très légers en data.</a:t>
            </a:r>
            <a:endParaRPr b="0" i="0" sz="1050" u="none" cap="none" strike="noStrike">
              <a:solidFill>
                <a:schemeClr val="dk1"/>
              </a:solidFill>
              <a:latin typeface="Calibri"/>
              <a:ea typeface="Calibri"/>
              <a:cs typeface="Calibri"/>
              <a:sym typeface="Calibri"/>
            </a:endParaRPr>
          </a:p>
        </p:txBody>
      </p:sp>
      <p:sp>
        <p:nvSpPr>
          <p:cNvPr id="108" name="Google Shape;108;p3"/>
          <p:cNvSpPr/>
          <p:nvPr/>
        </p:nvSpPr>
        <p:spPr>
          <a:xfrm>
            <a:off x="228600" y="4251960"/>
            <a:ext cx="4160520" cy="749808"/>
          </a:xfrm>
          <a:prstGeom prst="roundRect">
            <a:avLst>
              <a:gd fmla="val 8537" name="adj"/>
            </a:avLst>
          </a:prstGeom>
          <a:solidFill>
            <a:srgbClr val="EAF4EC"/>
          </a:solidFill>
          <a:ln cap="flat" cmpd="sng" w="12700">
            <a:solidFill>
              <a:srgbClr val="4CAF7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 name="Google Shape;109;p3"/>
          <p:cNvSpPr/>
          <p:nvPr/>
        </p:nvSpPr>
        <p:spPr>
          <a:xfrm>
            <a:off x="347472" y="4279392"/>
            <a:ext cx="3931920" cy="25603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F5C2E"/>
              </a:buClr>
              <a:buSzPts val="1000"/>
              <a:buFont typeface="Calibri"/>
              <a:buNone/>
            </a:pPr>
            <a:r>
              <a:rPr b="1" i="0" lang="en-US" sz="1000" u="none" cap="none" strike="noStrike">
                <a:solidFill>
                  <a:srgbClr val="1F5C2E"/>
                </a:solidFill>
                <a:latin typeface="Calibri"/>
                <a:ea typeface="Calibri"/>
                <a:cs typeface="Calibri"/>
                <a:sym typeface="Calibri"/>
              </a:rPr>
              <a:t>✅  Avant de lancer Claude :</a:t>
            </a:r>
            <a:endParaRPr b="0" i="0" sz="1000" u="none" cap="none" strike="noStrike">
              <a:solidFill>
                <a:schemeClr val="dk1"/>
              </a:solidFill>
              <a:latin typeface="Calibri"/>
              <a:ea typeface="Calibri"/>
              <a:cs typeface="Calibri"/>
              <a:sym typeface="Calibri"/>
            </a:endParaRPr>
          </a:p>
        </p:txBody>
      </p:sp>
      <p:sp>
        <p:nvSpPr>
          <p:cNvPr id="110" name="Google Shape;110;p3"/>
          <p:cNvSpPr/>
          <p:nvPr/>
        </p:nvSpPr>
        <p:spPr>
          <a:xfrm>
            <a:off x="347472" y="4535424"/>
            <a:ext cx="3931920" cy="38404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A2F23"/>
              </a:buClr>
              <a:buSzPts val="950"/>
              <a:buFont typeface="Calibri"/>
              <a:buNone/>
            </a:pPr>
            <a:r>
              <a:rPr b="0" i="0" lang="en-US" sz="950" u="none" cap="none" strike="noStrike">
                <a:solidFill>
                  <a:srgbClr val="1A2F23"/>
                </a:solidFill>
                <a:latin typeface="Calibri"/>
                <a:ea typeface="Calibri"/>
                <a:cs typeface="Calibri"/>
                <a:sym typeface="Calibri"/>
              </a:rPr>
              <a:t>Remplace les zones en orange  •  Ajoute le nom de ton projet  •  Précise ta source de données</a:t>
            </a:r>
            <a:endParaRPr b="0" i="0" sz="950" u="none" cap="none" strike="noStrike">
              <a:solidFill>
                <a:schemeClr val="dk1"/>
              </a:solidFill>
              <a:latin typeface="Calibri"/>
              <a:ea typeface="Calibri"/>
              <a:cs typeface="Calibri"/>
              <a:sym typeface="Calibri"/>
            </a:endParaRPr>
          </a:p>
        </p:txBody>
      </p:sp>
      <p:sp>
        <p:nvSpPr>
          <p:cNvPr id="111" name="Google Shape;111;p3"/>
          <p:cNvSpPr/>
          <p:nvPr/>
        </p:nvSpPr>
        <p:spPr>
          <a:xfrm>
            <a:off x="4617720" y="4251960"/>
            <a:ext cx="4297680" cy="749808"/>
          </a:xfrm>
          <a:prstGeom prst="roundRect">
            <a:avLst>
              <a:gd fmla="val 8537" name="adj"/>
            </a:avLst>
          </a:prstGeom>
          <a:solidFill>
            <a:srgbClr val="FFF3E0"/>
          </a:solidFill>
          <a:ln cap="flat" cmpd="sng" w="12700">
            <a:solidFill>
              <a:srgbClr val="E8A02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 name="Google Shape;112;p3"/>
          <p:cNvSpPr/>
          <p:nvPr/>
        </p:nvSpPr>
        <p:spPr>
          <a:xfrm>
            <a:off x="4736592" y="4279392"/>
            <a:ext cx="4069080" cy="25603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65100"/>
              </a:buClr>
              <a:buSzPts val="1000"/>
              <a:buFont typeface="Calibri"/>
              <a:buNone/>
            </a:pPr>
            <a:r>
              <a:rPr b="1" i="0" lang="en-US" sz="1000" u="none" cap="none" strike="noStrike">
                <a:solidFill>
                  <a:srgbClr val="E65100"/>
                </a:solidFill>
                <a:latin typeface="Calibri"/>
                <a:ea typeface="Calibri"/>
                <a:cs typeface="Calibri"/>
                <a:sym typeface="Calibri"/>
              </a:rPr>
              <a:t>📋  Livrable L3 — Script vidéo :</a:t>
            </a:r>
            <a:endParaRPr b="0" i="0" sz="1000" u="none" cap="none" strike="noStrike">
              <a:solidFill>
                <a:schemeClr val="dk1"/>
              </a:solidFill>
              <a:latin typeface="Calibri"/>
              <a:ea typeface="Calibri"/>
              <a:cs typeface="Calibri"/>
              <a:sym typeface="Calibri"/>
            </a:endParaRPr>
          </a:p>
        </p:txBody>
      </p:sp>
      <p:sp>
        <p:nvSpPr>
          <p:cNvPr id="113" name="Google Shape;113;p3"/>
          <p:cNvSpPr/>
          <p:nvPr/>
        </p:nvSpPr>
        <p:spPr>
          <a:xfrm>
            <a:off x="4736592" y="4535424"/>
            <a:ext cx="4069080" cy="38404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A2F23"/>
              </a:buClr>
              <a:buSzPts val="950"/>
              <a:buFont typeface="Calibri"/>
              <a:buNone/>
            </a:pPr>
            <a:r>
              <a:rPr b="0" i="0" lang="en-US" sz="950" u="none" cap="none" strike="noStrike">
                <a:solidFill>
                  <a:srgbClr val="1A2F23"/>
                </a:solidFill>
                <a:latin typeface="Calibri"/>
                <a:ea typeface="Calibri"/>
                <a:cs typeface="Calibri"/>
                <a:sym typeface="Calibri"/>
              </a:rPr>
              <a:t>Copie le script généré dans un doc partagé  •  4 actes détaillés  •  Voix off + indications visuelles</a:t>
            </a:r>
            <a:endParaRPr b="0" i="0" sz="950" u="none" cap="none" strike="noStrike">
              <a:solidFill>
                <a:schemeClr val="dk1"/>
              </a:solidFill>
              <a:latin typeface="Calibri"/>
              <a:ea typeface="Calibri"/>
              <a:cs typeface="Calibri"/>
              <a:sym typeface="Calibri"/>
            </a:endParaRPr>
          </a:p>
        </p:txBody>
      </p:sp>
      <p:sp>
        <p:nvSpPr>
          <p:cNvPr id="114" name="Google Shape;114;p3"/>
          <p:cNvSpPr/>
          <p:nvPr/>
        </p:nvSpPr>
        <p:spPr>
          <a:xfrm>
            <a:off x="0" y="5029200"/>
            <a:ext cx="9144000" cy="18288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CCCCCC"/>
              </a:buClr>
              <a:buSzPts val="700"/>
              <a:buFont typeface="Calibri"/>
              <a:buNone/>
            </a:pPr>
            <a:r>
              <a:rPr b="0" i="0" lang="en-US" sz="700" u="none" cap="none" strike="noStrike">
                <a:solidFill>
                  <a:srgbClr val="CCCCCC"/>
                </a:solidFill>
                <a:latin typeface="Calibri"/>
                <a:ea typeface="Calibri"/>
                <a:cs typeface="Calibri"/>
                <a:sym typeface="Calibri"/>
              </a:rPr>
              <a:t>GET 409 | Swiss UMEF University — Campus de Dakar | S7</a:t>
            </a:r>
            <a:endParaRPr b="0" i="0" sz="700" u="none" cap="none" strike="noStrike">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2026-06-17T14:21:18Z</dcterms:created>
  <dc:creator>Swiss UMEF University – Campus de Dakar</dc:creator>
</cp:coreProperties>
</file>